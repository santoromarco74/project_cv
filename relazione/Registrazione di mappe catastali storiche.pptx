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75262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di apertura: presentarsi, indicare il corso e il relatore, poi introdurre il caso di studio, un foglio catastale storico da allineare alla cartografia moderna.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Spiegare cos'è un Originale di Impianto e perché il problema è insidioso: due disegni al tratto, quasi senza texture, con uno stile grafico completamente diverso. Introdurre le due componenti A e B della traccia d'esame.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Descrivere i cinque passi seguendo le card da sinistra a destra. Insistere sul punto 5: RANSAC funziona anche quando la maggior parte degli abbinamenti è sbagliata. Chiudere spiegando come si misura il successo: confronto con la trasformazione vera dai world file, mai vista dall'algoritmo.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 punto chiave di questa slide è il pavimento di 0.56 m: la ground truth viene dai world file, senza annotare punti a mano, ma non è infinitamente precisa. Ogni RMSE sotto quella soglia misura il rumore del riferimento, non l'algoritmo.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tre strade di pulizia sono una domanda sperimentale, non un dettaglio: Sauvola vince sul caso reale. Nella riga scura, spiegare perché ORB con filtro permissivo batte SIFT quando gli abbinamenti corretti sono pochi, e perché un modello geometrico più vincolato aiuta con dati rumorosi.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 stabilisce che la pipeline è corretta: senza divario di dominio l'errore è sub-pixel. E2, il caso reale, è il risultato principale del progetto: 90% di successo, 0.33 m, con la configurazione meno prevedibile. Anticipare che il capitolo successivo spiega perché.</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LoFTR non vince: pareggia ORB sul successo con un costo di calcolo molto più alto, ma produce corrispondenze molto più pulite — il collo di bottiglia è altrove, nel divario fra i due stili grafici. Chiudere dichiarando i tre limiti, per onestà scientifica.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Chiudere ribadendo che i numeri descrivono questo foglio, ma le decisioni metodologiche si trasferiscono: vincolare il modello con pochi dati buoni, preferire una soglia locale, diffidare di misure indirette senza baseline casuale. Spazio per domande.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430"/>
        </a:solidFill>
        <a:effectLst/>
      </p:bgPr>
    </p:bg>
    <p:spTree>
      <p:nvGrpSpPr>
        <p:cNvPr id="1" name=""/>
        <p:cNvGrpSpPr/>
        <p:nvPr/>
      </p:nvGrpSpPr>
      <p:grpSpPr>
        <a:xfrm>
          <a:off x="0" y="0"/>
          <a:ext cx="0" cy="0"/>
          <a:chOff x="0" y="0"/>
          <a:chExt cx="0" cy="0"/>
        </a:xfrm>
      </p:grpSpPr>
      <p:sp>
        <p:nvSpPr>
          <p:cNvPr id="2" name="Text 0"/>
          <p:cNvSpPr/>
          <p:nvPr/>
        </p:nvSpPr>
        <p:spPr>
          <a:xfrm>
            <a:off x="812800" y="231011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kern="0" spc="150" dirty="0">
                <a:solidFill>
                  <a:srgbClr val="FAF9F7">
                    <a:alpha val="60000"/>
                  </a:srgbClr>
                </a:solidFill>
                <a:latin typeface="IBM Plex Sans" pitchFamily="34" charset="0"/>
                <a:ea typeface="IBM Plex Sans" pitchFamily="34" charset="-122"/>
                <a:cs typeface="IBM Plex Sans" pitchFamily="34" charset="-120"/>
              </a:rPr>
              <a:t>PROGETTO D'ESAME · COMPUTER VISION · UNIVERSITÀ DI PAVIA</a:t>
            </a:r>
            <a:endParaRPr lang="en-US" sz="1200" dirty="0"/>
          </a:p>
        </p:txBody>
      </p:sp>
      <p:sp>
        <p:nvSpPr>
          <p:cNvPr id="3" name="Shape 1"/>
          <p:cNvSpPr/>
          <p:nvPr/>
        </p:nvSpPr>
        <p:spPr>
          <a:xfrm>
            <a:off x="812800" y="2701230"/>
            <a:ext cx="609600" cy="38100"/>
          </a:xfrm>
          <a:prstGeom prst="rect">
            <a:avLst/>
          </a:prstGeom>
          <a:solidFill>
            <a:srgbClr val="B23A2E"/>
          </a:solidFill>
          <a:ln/>
        </p:spPr>
      </p:sp>
      <p:sp>
        <p:nvSpPr>
          <p:cNvPr id="4" name="Text 2"/>
          <p:cNvSpPr/>
          <p:nvPr/>
        </p:nvSpPr>
        <p:spPr>
          <a:xfrm>
            <a:off x="812800" y="291713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dirty="0">
                <a:solidFill>
                  <a:srgbClr val="FAF9F7"/>
                </a:solidFill>
                <a:latin typeface="EB Garamond" pitchFamily="34" charset="0"/>
                <a:ea typeface="EB Garamond" pitchFamily="34" charset="-122"/>
                <a:cs typeface="EB Garamond" pitchFamily="34" charset="-120"/>
              </a:rPr>
              <a:t>Registrazione di mappe catastali storiche su cartografia moderna</a:t>
            </a:r>
            <a:endParaRPr lang="en-US" sz="4000" dirty="0"/>
          </a:p>
        </p:txBody>
      </p:sp>
      <p:sp>
        <p:nvSpPr>
          <p:cNvPr id="5" name="Text 3"/>
          <p:cNvSpPr/>
          <p:nvPr/>
        </p:nvSpPr>
        <p:spPr>
          <a:xfrm>
            <a:off x="812800" y="426333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FAF9F7">
                    <a:alpha val="85000"/>
                  </a:srgbClr>
                </a:solidFill>
                <a:latin typeface="IBM Plex Sans" pitchFamily="34" charset="0"/>
                <a:ea typeface="IBM Plex Sans" pitchFamily="34" charset="-122"/>
                <a:cs typeface="IBM Plex Sans" pitchFamily="34" charset="-120"/>
              </a:rPr>
              <a:t>Comune di Varazze (SV), foglio 49 — Originale di Impianto dell'Agenzia delle Entrate</a:t>
            </a:r>
            <a:endParaRPr lang="en-US" sz="1600" dirty="0"/>
          </a:p>
        </p:txBody>
      </p:sp>
      <p:sp>
        <p:nvSpPr>
          <p:cNvPr id="6" name="Text 4"/>
          <p:cNvSpPr/>
          <p:nvPr/>
        </p:nvSpPr>
        <p:spPr>
          <a:xfrm>
            <a:off x="812800" y="6238280"/>
            <a:ext cx="338092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AF9F7">
                    <a:alpha val="60000"/>
                  </a:srgbClr>
                </a:solidFill>
                <a:latin typeface="IBM Plex Sans" pitchFamily="34" charset="0"/>
                <a:ea typeface="IBM Plex Sans" pitchFamily="34" charset="-122"/>
                <a:cs typeface="IBM Plex Sans" pitchFamily="34" charset="-120"/>
              </a:rPr>
              <a:t>[Marco Santoro] · relatore: prof. Luca Lombardi</a:t>
            </a:r>
            <a:endParaRPr lang="en-US" sz="1200" dirty="0"/>
          </a:p>
        </p:txBody>
      </p:sp>
      <p:sp>
        <p:nvSpPr>
          <p:cNvPr id="7" name="Text 5"/>
          <p:cNvSpPr/>
          <p:nvPr/>
        </p:nvSpPr>
        <p:spPr>
          <a:xfrm>
            <a:off x="10268148" y="6238280"/>
            <a:ext cx="116185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FAF9F7">
                    <a:alpha val="60000"/>
                  </a:srgbClr>
                </a:solidFill>
                <a:latin typeface="IBM Plex Sans" pitchFamily="34" charset="0"/>
                <a:ea typeface="IBM Plex Sans" pitchFamily="34" charset="-122"/>
                <a:cs typeface="IBM Plex Sans" pitchFamily="34" charset="-120"/>
              </a:rPr>
              <a:t>A.A. 2025/2026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2430"/>
                </a:solidFill>
                <a:latin typeface="EB Garamond" pitchFamily="34" charset="0"/>
                <a:ea typeface="EB Garamond" pitchFamily="34" charset="-122"/>
                <a:cs typeface="EB Garamond" pitchFamily="34" charset="-120"/>
              </a:rPr>
              <a:t>Un problema più difficile del previsto</a:t>
            </a:r>
            <a:endParaRPr lang="en-US" sz="3000" dirty="0"/>
          </a:p>
        </p:txBody>
      </p:sp>
      <p:sp>
        <p:nvSpPr>
          <p:cNvPr id="3" name="Text 1"/>
          <p:cNvSpPr/>
          <p:nvPr/>
        </p:nvSpPr>
        <p:spPr>
          <a:xfrm>
            <a:off x="812800" y="1504950"/>
            <a:ext cx="5708119" cy="851991"/>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1B2430"/>
                </a:solidFill>
                <a:latin typeface="IBM Plex Sans" pitchFamily="34" charset="0"/>
                <a:ea typeface="IBM Plex Sans" pitchFamily="34" charset="-122"/>
                <a:cs typeface="IBM Plex Sans" pitchFamily="34" charset="-120"/>
              </a:rPr>
              <a:t>Un Originale di Impianto è il foglio disegnato a mano alla nascita del catasto terreni, un secolo fa: inchiostro sbiadito, macchie, numeri a penna.</a:t>
            </a:r>
            <a:endParaRPr lang="en-US" sz="1400" dirty="0"/>
          </a:p>
        </p:txBody>
      </p:sp>
      <p:sp>
        <p:nvSpPr>
          <p:cNvPr id="4" name="Text 2"/>
          <p:cNvSpPr/>
          <p:nvPr/>
        </p:nvSpPr>
        <p:spPr>
          <a:xfrm>
            <a:off x="812800" y="2483941"/>
            <a:ext cx="5708119" cy="1127522"/>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1B2430"/>
                </a:solidFill>
                <a:latin typeface="IBM Plex Sans" pitchFamily="34" charset="0"/>
                <a:ea typeface="IBM Plex Sans" pitchFamily="34" charset="-122"/>
                <a:cs typeface="IBM Plex Sans" pitchFamily="34" charset="-120"/>
              </a:rPr>
              <a:t>Registrarlo su cartografia moderna significa trovare la trasformazione che sovrappone i suoi pixel alle coordinate di oggi — difficile perché entrambe le immagini sono disegni al tratto, quasi senza texture: il terreno peggiore per descrittori nati per le fotografie.</a:t>
            </a:r>
            <a:endParaRPr lang="en-US" sz="1400" dirty="0"/>
          </a:p>
        </p:txBody>
      </p:sp>
      <p:sp>
        <p:nvSpPr>
          <p:cNvPr id="5" name="Shape 3"/>
          <p:cNvSpPr/>
          <p:nvPr/>
        </p:nvSpPr>
        <p:spPr>
          <a:xfrm>
            <a:off x="6764238" y="1508125"/>
            <a:ext cx="4611787" cy="1464270"/>
          </a:xfrm>
          <a:prstGeom prst="roundRect">
            <a:avLst>
              <a:gd name="adj" fmla="val 8456"/>
            </a:avLst>
          </a:prstGeom>
          <a:solidFill>
            <a:srgbClr val="F1EFEA"/>
          </a:solidFill>
          <a:ln w="6350">
            <a:solidFill>
              <a:srgbClr val="DDD9D2"/>
            </a:solidFill>
            <a:prstDash val="solid"/>
          </a:ln>
        </p:spPr>
      </p:sp>
      <p:sp>
        <p:nvSpPr>
          <p:cNvPr id="6" name="Text 4"/>
          <p:cNvSpPr/>
          <p:nvPr/>
        </p:nvSpPr>
        <p:spPr>
          <a:xfrm>
            <a:off x="6970613" y="1714500"/>
            <a:ext cx="432500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B23A2E"/>
                </a:solidFill>
                <a:latin typeface="IBM Plex Sans" pitchFamily="34" charset="0"/>
                <a:ea typeface="IBM Plex Sans" pitchFamily="34" charset="-122"/>
                <a:cs typeface="IBM Plex Sans" pitchFamily="34" charset="-120"/>
              </a:rPr>
              <a:t>COMPONENTE A</a:t>
            </a:r>
            <a:endParaRPr lang="en-US" sz="1200" dirty="0"/>
          </a:p>
        </p:txBody>
      </p:sp>
      <p:sp>
        <p:nvSpPr>
          <p:cNvPr id="7" name="Text 5"/>
          <p:cNvSpPr/>
          <p:nvPr/>
        </p:nvSpPr>
        <p:spPr>
          <a:xfrm>
            <a:off x="6970613" y="2004020"/>
            <a:ext cx="43250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30"/>
                </a:solidFill>
                <a:latin typeface="IBM Plex Sans" pitchFamily="34" charset="0"/>
                <a:ea typeface="IBM Plex Sans" pitchFamily="34" charset="-122"/>
                <a:cs typeface="IBM Plex Sans" pitchFamily="34" charset="-120"/>
              </a:rPr>
              <a:t>Nucleo classico</a:t>
            </a:r>
            <a:endParaRPr lang="en-US" sz="1500" dirty="0"/>
          </a:p>
        </p:txBody>
      </p:sp>
      <p:sp>
        <p:nvSpPr>
          <p:cNvPr id="8" name="Text 6"/>
          <p:cNvSpPr/>
          <p:nvPr/>
        </p:nvSpPr>
        <p:spPr>
          <a:xfrm>
            <a:off x="6970613" y="2308820"/>
            <a:ext cx="4325008"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C6673"/>
                </a:solidFill>
                <a:latin typeface="IBM Plex Sans" pitchFamily="34" charset="0"/>
                <a:ea typeface="IBM Plex Sans" pitchFamily="34" charset="-122"/>
                <a:cs typeface="IBM Plex Sans" pitchFamily="34" charset="-120"/>
              </a:rPr>
              <a:t>Pulizia dell'immagine, SIFT/ORB, RANSAC: spingere al massimo i metodi tradizionali.</a:t>
            </a:r>
            <a:endParaRPr lang="en-US" sz="1200" dirty="0"/>
          </a:p>
        </p:txBody>
      </p:sp>
      <p:sp>
        <p:nvSpPr>
          <p:cNvPr id="9" name="Shape 7"/>
          <p:cNvSpPr/>
          <p:nvPr/>
        </p:nvSpPr>
        <p:spPr>
          <a:xfrm>
            <a:off x="6764238" y="3131145"/>
            <a:ext cx="4611787" cy="1464270"/>
          </a:xfrm>
          <a:prstGeom prst="roundRect">
            <a:avLst>
              <a:gd name="adj" fmla="val 8456"/>
            </a:avLst>
          </a:prstGeom>
          <a:solidFill>
            <a:srgbClr val="F1EFEA"/>
          </a:solidFill>
          <a:ln w="6350">
            <a:solidFill>
              <a:srgbClr val="DDD9D2"/>
            </a:solidFill>
            <a:prstDash val="solid"/>
          </a:ln>
        </p:spPr>
      </p:sp>
      <p:sp>
        <p:nvSpPr>
          <p:cNvPr id="10" name="Text 8"/>
          <p:cNvSpPr/>
          <p:nvPr/>
        </p:nvSpPr>
        <p:spPr>
          <a:xfrm>
            <a:off x="6970613" y="3337520"/>
            <a:ext cx="432500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2F6B4F"/>
                </a:solidFill>
                <a:latin typeface="IBM Plex Sans" pitchFamily="34" charset="0"/>
                <a:ea typeface="IBM Plex Sans" pitchFamily="34" charset="-122"/>
                <a:cs typeface="IBM Plex Sans" pitchFamily="34" charset="-120"/>
              </a:rPr>
              <a:t>COMPONENTE B</a:t>
            </a:r>
            <a:endParaRPr lang="en-US" sz="1200" dirty="0"/>
          </a:p>
        </p:txBody>
      </p:sp>
      <p:sp>
        <p:nvSpPr>
          <p:cNvPr id="11" name="Text 9"/>
          <p:cNvSpPr/>
          <p:nvPr/>
        </p:nvSpPr>
        <p:spPr>
          <a:xfrm>
            <a:off x="6970613" y="3627041"/>
            <a:ext cx="4325008"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30"/>
                </a:solidFill>
                <a:latin typeface="IBM Plex Sans" pitchFamily="34" charset="0"/>
                <a:ea typeface="IBM Plex Sans" pitchFamily="34" charset="-122"/>
                <a:cs typeface="IBM Plex Sans" pitchFamily="34" charset="-120"/>
              </a:rPr>
              <a:t>Confronto</a:t>
            </a:r>
            <a:endParaRPr lang="en-US" sz="1500" dirty="0"/>
          </a:p>
        </p:txBody>
      </p:sp>
      <p:sp>
        <p:nvSpPr>
          <p:cNvPr id="12" name="Text 10"/>
          <p:cNvSpPr/>
          <p:nvPr/>
        </p:nvSpPr>
        <p:spPr>
          <a:xfrm>
            <a:off x="6970613" y="3931841"/>
            <a:ext cx="4325008"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C6673"/>
                </a:solidFill>
                <a:latin typeface="IBM Plex Sans" pitchFamily="34" charset="0"/>
                <a:ea typeface="IBM Plex Sans" pitchFamily="34" charset="-122"/>
                <a:cs typeface="IBM Plex Sans" pitchFamily="34" charset="-120"/>
              </a:rPr>
              <a:t>Stessa identica pipeline, un solo componente sostituito da LoFTR: un confronto quantitativo, non un'impressione.</a:t>
            </a:r>
            <a:endParaRPr lang="en-US" sz="1200" dirty="0"/>
          </a:p>
        </p:txBody>
      </p:sp>
      <p:sp>
        <p:nvSpPr>
          <p:cNvPr id="13" name="Text 11"/>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14" name="Text 12"/>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2 / 8</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2430"/>
                </a:solidFill>
                <a:latin typeface="EB Garamond" pitchFamily="34" charset="0"/>
                <a:ea typeface="EB Garamond" pitchFamily="34" charset="-122"/>
                <a:cs typeface="EB Garamond" pitchFamily="34" charset="-120"/>
              </a:rPr>
              <a:t>Cinque passi, una sola pipeline</a:t>
            </a:r>
            <a:endParaRPr lang="en-US" sz="3000" dirty="0"/>
          </a:p>
        </p:txBody>
      </p:sp>
      <p:sp>
        <p:nvSpPr>
          <p:cNvPr id="3" name="Shape 1"/>
          <p:cNvSpPr/>
          <p:nvPr/>
        </p:nvSpPr>
        <p:spPr>
          <a:xfrm>
            <a:off x="815975" y="1457325"/>
            <a:ext cx="1984970" cy="1756271"/>
          </a:xfrm>
          <a:prstGeom prst="roundRect">
            <a:avLst>
              <a:gd name="adj" fmla="val 7050"/>
            </a:avLst>
          </a:prstGeom>
          <a:solidFill>
            <a:srgbClr val="F1EFEA"/>
          </a:solidFill>
          <a:ln w="6350">
            <a:solidFill>
              <a:srgbClr val="DDD9D2"/>
            </a:solidFill>
            <a:prstDash val="solid"/>
          </a:ln>
        </p:spPr>
      </p:sp>
      <p:sp>
        <p:nvSpPr>
          <p:cNvPr id="4" name="Shape 2"/>
          <p:cNvSpPr/>
          <p:nvPr/>
        </p:nvSpPr>
        <p:spPr>
          <a:xfrm>
            <a:off x="996950" y="1638300"/>
            <a:ext cx="330200" cy="330200"/>
          </a:xfrm>
          <a:prstGeom prst="roundRect">
            <a:avLst>
              <a:gd name="adj" fmla="val 50000"/>
            </a:avLst>
          </a:prstGeom>
          <a:solidFill>
            <a:srgbClr val="1B2430"/>
          </a:solidFill>
          <a:ln/>
        </p:spPr>
      </p:sp>
      <p:sp>
        <p:nvSpPr>
          <p:cNvPr id="5" name="Text 3"/>
          <p:cNvSpPr/>
          <p:nvPr/>
        </p:nvSpPr>
        <p:spPr>
          <a:xfrm>
            <a:off x="1112441" y="1687810"/>
            <a:ext cx="149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AF9F7"/>
                </a:solidFill>
                <a:latin typeface="IBM Plex Sans" pitchFamily="34" charset="0"/>
                <a:ea typeface="IBM Plex Sans" pitchFamily="34" charset="-122"/>
                <a:cs typeface="IBM Plex Sans" pitchFamily="34" charset="-120"/>
              </a:rPr>
              <a:t>1</a:t>
            </a:r>
            <a:endParaRPr lang="en-US" sz="1300" dirty="0"/>
          </a:p>
        </p:txBody>
      </p:sp>
      <p:sp>
        <p:nvSpPr>
          <p:cNvPr id="6" name="Text 4"/>
          <p:cNvSpPr/>
          <p:nvPr/>
        </p:nvSpPr>
        <p:spPr>
          <a:xfrm>
            <a:off x="996950" y="2070100"/>
            <a:ext cx="16738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430"/>
                </a:solidFill>
                <a:latin typeface="IBM Plex Sans" pitchFamily="34" charset="0"/>
                <a:ea typeface="IBM Plex Sans" pitchFamily="34" charset="-122"/>
                <a:cs typeface="IBM Plex Sans" pitchFamily="34" charset="-120"/>
              </a:rPr>
              <a:t>Pulizia</a:t>
            </a:r>
            <a:endParaRPr lang="en-US" sz="1300" dirty="0"/>
          </a:p>
        </p:txBody>
      </p:sp>
      <p:sp>
        <p:nvSpPr>
          <p:cNvPr id="7" name="Text 5"/>
          <p:cNvSpPr/>
          <p:nvPr/>
        </p:nvSpPr>
        <p:spPr>
          <a:xfrm>
            <a:off x="996950" y="2369741"/>
            <a:ext cx="167382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6673"/>
                </a:solidFill>
                <a:latin typeface="IBM Plex Sans" pitchFamily="34" charset="0"/>
                <a:ea typeface="IBM Plex Sans" pitchFamily="34" charset="-122"/>
                <a:cs typeface="IBM Plex Sans" pitchFamily="34" charset="-120"/>
              </a:rPr>
              <a:t>Ogni pixel: inchiostro o carta?</a:t>
            </a:r>
            <a:endParaRPr lang="en-US" sz="1200" dirty="0"/>
          </a:p>
        </p:txBody>
      </p:sp>
      <p:sp>
        <p:nvSpPr>
          <p:cNvPr id="8" name="Shape 6"/>
          <p:cNvSpPr/>
          <p:nvPr/>
        </p:nvSpPr>
        <p:spPr>
          <a:xfrm>
            <a:off x="2959695" y="1457325"/>
            <a:ext cx="1985070" cy="1756271"/>
          </a:xfrm>
          <a:prstGeom prst="roundRect">
            <a:avLst>
              <a:gd name="adj" fmla="val 7050"/>
            </a:avLst>
          </a:prstGeom>
          <a:solidFill>
            <a:srgbClr val="F1EFEA"/>
          </a:solidFill>
          <a:ln w="6350">
            <a:solidFill>
              <a:srgbClr val="DDD9D2"/>
            </a:solidFill>
            <a:prstDash val="solid"/>
          </a:ln>
        </p:spPr>
      </p:sp>
      <p:sp>
        <p:nvSpPr>
          <p:cNvPr id="9" name="Shape 7"/>
          <p:cNvSpPr/>
          <p:nvPr/>
        </p:nvSpPr>
        <p:spPr>
          <a:xfrm>
            <a:off x="3140670" y="1638300"/>
            <a:ext cx="330200" cy="330200"/>
          </a:xfrm>
          <a:prstGeom prst="roundRect">
            <a:avLst>
              <a:gd name="adj" fmla="val 50000"/>
            </a:avLst>
          </a:prstGeom>
          <a:solidFill>
            <a:srgbClr val="1B2430"/>
          </a:solidFill>
          <a:ln/>
        </p:spPr>
      </p:sp>
      <p:sp>
        <p:nvSpPr>
          <p:cNvPr id="10" name="Text 8"/>
          <p:cNvSpPr/>
          <p:nvPr/>
        </p:nvSpPr>
        <p:spPr>
          <a:xfrm>
            <a:off x="3256161" y="1687810"/>
            <a:ext cx="149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AF9F7"/>
                </a:solidFill>
                <a:latin typeface="IBM Plex Sans" pitchFamily="34" charset="0"/>
                <a:ea typeface="IBM Plex Sans" pitchFamily="34" charset="-122"/>
                <a:cs typeface="IBM Plex Sans" pitchFamily="34" charset="-120"/>
              </a:rPr>
              <a:t>2</a:t>
            </a:r>
            <a:endParaRPr lang="en-US" sz="1300" dirty="0"/>
          </a:p>
        </p:txBody>
      </p:sp>
      <p:sp>
        <p:nvSpPr>
          <p:cNvPr id="11" name="Text 9"/>
          <p:cNvSpPr/>
          <p:nvPr/>
        </p:nvSpPr>
        <p:spPr>
          <a:xfrm>
            <a:off x="3140670" y="2070100"/>
            <a:ext cx="16739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430"/>
                </a:solidFill>
                <a:latin typeface="IBM Plex Sans" pitchFamily="34" charset="0"/>
                <a:ea typeface="IBM Plex Sans" pitchFamily="34" charset="-122"/>
                <a:cs typeface="IBM Plex Sans" pitchFamily="34" charset="-120"/>
              </a:rPr>
              <a:t>Punti distintivi</a:t>
            </a:r>
            <a:endParaRPr lang="en-US" sz="1300" dirty="0"/>
          </a:p>
        </p:txBody>
      </p:sp>
      <p:sp>
        <p:nvSpPr>
          <p:cNvPr id="12" name="Text 10"/>
          <p:cNvSpPr/>
          <p:nvPr/>
        </p:nvSpPr>
        <p:spPr>
          <a:xfrm>
            <a:off x="3140670" y="2369741"/>
            <a:ext cx="167392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6673"/>
                </a:solidFill>
                <a:latin typeface="IBM Plex Sans" pitchFamily="34" charset="0"/>
                <a:ea typeface="IBM Plex Sans" pitchFamily="34" charset="-122"/>
                <a:cs typeface="IBM Plex Sans" pitchFamily="34" charset="-120"/>
              </a:rPr>
              <a:t>SIFT e ORB cercano gli incroci riconoscibili</a:t>
            </a:r>
            <a:endParaRPr lang="en-US" sz="1200" dirty="0"/>
          </a:p>
        </p:txBody>
      </p:sp>
      <p:sp>
        <p:nvSpPr>
          <p:cNvPr id="13" name="Shape 11"/>
          <p:cNvSpPr/>
          <p:nvPr/>
        </p:nvSpPr>
        <p:spPr>
          <a:xfrm>
            <a:off x="5103515" y="1457325"/>
            <a:ext cx="1984970" cy="1756271"/>
          </a:xfrm>
          <a:prstGeom prst="roundRect">
            <a:avLst>
              <a:gd name="adj" fmla="val 7050"/>
            </a:avLst>
          </a:prstGeom>
          <a:solidFill>
            <a:srgbClr val="F1EFEA"/>
          </a:solidFill>
          <a:ln w="6350">
            <a:solidFill>
              <a:srgbClr val="DDD9D2"/>
            </a:solidFill>
            <a:prstDash val="solid"/>
          </a:ln>
        </p:spPr>
      </p:sp>
      <p:sp>
        <p:nvSpPr>
          <p:cNvPr id="14" name="Shape 12"/>
          <p:cNvSpPr/>
          <p:nvPr/>
        </p:nvSpPr>
        <p:spPr>
          <a:xfrm>
            <a:off x="5284490" y="1638300"/>
            <a:ext cx="330200" cy="330200"/>
          </a:xfrm>
          <a:prstGeom prst="roundRect">
            <a:avLst>
              <a:gd name="adj" fmla="val 50000"/>
            </a:avLst>
          </a:prstGeom>
          <a:solidFill>
            <a:srgbClr val="1B2430"/>
          </a:solidFill>
          <a:ln/>
        </p:spPr>
      </p:sp>
      <p:sp>
        <p:nvSpPr>
          <p:cNvPr id="15" name="Text 13"/>
          <p:cNvSpPr/>
          <p:nvPr/>
        </p:nvSpPr>
        <p:spPr>
          <a:xfrm>
            <a:off x="5399980" y="1687810"/>
            <a:ext cx="149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AF9F7"/>
                </a:solidFill>
                <a:latin typeface="IBM Plex Sans" pitchFamily="34" charset="0"/>
                <a:ea typeface="IBM Plex Sans" pitchFamily="34" charset="-122"/>
                <a:cs typeface="IBM Plex Sans" pitchFamily="34" charset="-120"/>
              </a:rPr>
              <a:t>3</a:t>
            </a:r>
            <a:endParaRPr lang="en-US" sz="1300" dirty="0"/>
          </a:p>
        </p:txBody>
      </p:sp>
      <p:sp>
        <p:nvSpPr>
          <p:cNvPr id="16" name="Text 14"/>
          <p:cNvSpPr/>
          <p:nvPr/>
        </p:nvSpPr>
        <p:spPr>
          <a:xfrm>
            <a:off x="5284490" y="2070100"/>
            <a:ext cx="16738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430"/>
                </a:solidFill>
                <a:latin typeface="IBM Plex Sans" pitchFamily="34" charset="0"/>
                <a:ea typeface="IBM Plex Sans" pitchFamily="34" charset="-122"/>
                <a:cs typeface="IBM Plex Sans" pitchFamily="34" charset="-120"/>
              </a:rPr>
              <a:t>Abbinamento</a:t>
            </a:r>
            <a:endParaRPr lang="en-US" sz="1300" dirty="0"/>
          </a:p>
        </p:txBody>
      </p:sp>
      <p:sp>
        <p:nvSpPr>
          <p:cNvPr id="17" name="Text 15"/>
          <p:cNvSpPr/>
          <p:nvPr/>
        </p:nvSpPr>
        <p:spPr>
          <a:xfrm>
            <a:off x="5284490" y="2369741"/>
            <a:ext cx="167382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6673"/>
                </a:solidFill>
                <a:latin typeface="IBM Plex Sans" pitchFamily="34" charset="0"/>
                <a:ea typeface="IBM Plex Sans" pitchFamily="34" charset="-122"/>
                <a:cs typeface="IBM Plex Sans" pitchFamily="34" charset="-120"/>
              </a:rPr>
              <a:t>I punti simili nelle due immagini si accoppiano</a:t>
            </a:r>
            <a:endParaRPr lang="en-US" sz="1200" dirty="0"/>
          </a:p>
        </p:txBody>
      </p:sp>
      <p:sp>
        <p:nvSpPr>
          <p:cNvPr id="18" name="Shape 16"/>
          <p:cNvSpPr/>
          <p:nvPr/>
        </p:nvSpPr>
        <p:spPr>
          <a:xfrm>
            <a:off x="7247235" y="1457325"/>
            <a:ext cx="1985070" cy="1756271"/>
          </a:xfrm>
          <a:prstGeom prst="roundRect">
            <a:avLst>
              <a:gd name="adj" fmla="val 7050"/>
            </a:avLst>
          </a:prstGeom>
          <a:solidFill>
            <a:srgbClr val="F1EFEA"/>
          </a:solidFill>
          <a:ln w="6350">
            <a:solidFill>
              <a:srgbClr val="DDD9D2"/>
            </a:solidFill>
            <a:prstDash val="solid"/>
          </a:ln>
        </p:spPr>
      </p:sp>
      <p:sp>
        <p:nvSpPr>
          <p:cNvPr id="19" name="Shape 17"/>
          <p:cNvSpPr/>
          <p:nvPr/>
        </p:nvSpPr>
        <p:spPr>
          <a:xfrm>
            <a:off x="7428210" y="1638300"/>
            <a:ext cx="330200" cy="330200"/>
          </a:xfrm>
          <a:prstGeom prst="roundRect">
            <a:avLst>
              <a:gd name="adj" fmla="val 50000"/>
            </a:avLst>
          </a:prstGeom>
          <a:solidFill>
            <a:srgbClr val="1B2430"/>
          </a:solidFill>
          <a:ln/>
        </p:spPr>
      </p:sp>
      <p:sp>
        <p:nvSpPr>
          <p:cNvPr id="20" name="Text 18"/>
          <p:cNvSpPr/>
          <p:nvPr/>
        </p:nvSpPr>
        <p:spPr>
          <a:xfrm>
            <a:off x="7543701" y="1687810"/>
            <a:ext cx="149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AF9F7"/>
                </a:solidFill>
                <a:latin typeface="IBM Plex Sans" pitchFamily="34" charset="0"/>
                <a:ea typeface="IBM Plex Sans" pitchFamily="34" charset="-122"/>
                <a:cs typeface="IBM Plex Sans" pitchFamily="34" charset="-120"/>
              </a:rPr>
              <a:t>4</a:t>
            </a:r>
            <a:endParaRPr lang="en-US" sz="1300" dirty="0"/>
          </a:p>
        </p:txBody>
      </p:sp>
      <p:sp>
        <p:nvSpPr>
          <p:cNvPr id="21" name="Text 19"/>
          <p:cNvSpPr/>
          <p:nvPr/>
        </p:nvSpPr>
        <p:spPr>
          <a:xfrm>
            <a:off x="7428210" y="2070100"/>
            <a:ext cx="16739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430"/>
                </a:solidFill>
                <a:latin typeface="IBM Plex Sans" pitchFamily="34" charset="0"/>
                <a:ea typeface="IBM Plex Sans" pitchFamily="34" charset="-122"/>
                <a:cs typeface="IBM Plex Sans" pitchFamily="34" charset="-120"/>
              </a:rPr>
              <a:t>RANSAC</a:t>
            </a:r>
            <a:endParaRPr lang="en-US" sz="1300" dirty="0"/>
          </a:p>
        </p:txBody>
      </p:sp>
      <p:sp>
        <p:nvSpPr>
          <p:cNvPr id="22" name="Text 20"/>
          <p:cNvSpPr/>
          <p:nvPr/>
        </p:nvSpPr>
        <p:spPr>
          <a:xfrm>
            <a:off x="7428210" y="2369741"/>
            <a:ext cx="1673920"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6673"/>
                </a:solidFill>
                <a:latin typeface="IBM Plex Sans" pitchFamily="34" charset="0"/>
                <a:ea typeface="IBM Plex Sans" pitchFamily="34" charset="-122"/>
                <a:cs typeface="IBM Plex Sans" pitchFamily="34" charset="-120"/>
              </a:rPr>
              <a:t>Vota la trasformazione più condivisa</a:t>
            </a:r>
            <a:endParaRPr lang="en-US" sz="1200" dirty="0"/>
          </a:p>
        </p:txBody>
      </p:sp>
      <p:sp>
        <p:nvSpPr>
          <p:cNvPr id="23" name="Shape 21"/>
          <p:cNvSpPr/>
          <p:nvPr/>
        </p:nvSpPr>
        <p:spPr>
          <a:xfrm>
            <a:off x="9391055" y="1457325"/>
            <a:ext cx="1984970" cy="1756271"/>
          </a:xfrm>
          <a:prstGeom prst="roundRect">
            <a:avLst>
              <a:gd name="adj" fmla="val 7050"/>
            </a:avLst>
          </a:prstGeom>
          <a:solidFill>
            <a:srgbClr val="F1EFEA"/>
          </a:solidFill>
          <a:ln w="6350">
            <a:solidFill>
              <a:srgbClr val="DDD9D2"/>
            </a:solidFill>
            <a:prstDash val="solid"/>
          </a:ln>
        </p:spPr>
      </p:sp>
      <p:sp>
        <p:nvSpPr>
          <p:cNvPr id="24" name="Shape 22"/>
          <p:cNvSpPr/>
          <p:nvPr/>
        </p:nvSpPr>
        <p:spPr>
          <a:xfrm>
            <a:off x="9572030" y="1638300"/>
            <a:ext cx="330200" cy="330200"/>
          </a:xfrm>
          <a:prstGeom prst="roundRect">
            <a:avLst>
              <a:gd name="adj" fmla="val 50000"/>
            </a:avLst>
          </a:prstGeom>
          <a:solidFill>
            <a:srgbClr val="1B2430"/>
          </a:solidFill>
          <a:ln/>
        </p:spPr>
      </p:sp>
      <p:sp>
        <p:nvSpPr>
          <p:cNvPr id="25" name="Text 23"/>
          <p:cNvSpPr/>
          <p:nvPr/>
        </p:nvSpPr>
        <p:spPr>
          <a:xfrm>
            <a:off x="9687520" y="1687810"/>
            <a:ext cx="14992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AF9F7"/>
                </a:solidFill>
                <a:latin typeface="IBM Plex Sans" pitchFamily="34" charset="0"/>
                <a:ea typeface="IBM Plex Sans" pitchFamily="34" charset="-122"/>
                <a:cs typeface="IBM Plex Sans" pitchFamily="34" charset="-120"/>
              </a:rPr>
              <a:t>5</a:t>
            </a:r>
            <a:endParaRPr lang="en-US" sz="1300" dirty="0"/>
          </a:p>
        </p:txBody>
      </p:sp>
      <p:sp>
        <p:nvSpPr>
          <p:cNvPr id="26" name="Text 24"/>
          <p:cNvSpPr/>
          <p:nvPr/>
        </p:nvSpPr>
        <p:spPr>
          <a:xfrm>
            <a:off x="9572030" y="2070100"/>
            <a:ext cx="1673820" cy="223441"/>
          </a:xfrm>
          <a:prstGeom prst="rect">
            <a:avLst/>
          </a:prstGeom>
          <a:noFill/>
          <a:ln/>
        </p:spPr>
        <p:txBody>
          <a:bodyPr wrap="square" lIns="0" tIns="0" rIns="0" bIns="0" rtlCol="0" anchor="t">
            <a:normAutofit/>
          </a:bodyPr>
          <a:lstStyle/>
          <a:p>
            <a:pPr marL="0" indent="0" algn="l">
              <a:lnSpc>
                <a:spcPts val="1560"/>
              </a:lnSpc>
              <a:buNone/>
            </a:pPr>
            <a:r>
              <a:rPr lang="en-US" sz="1300" b="1" dirty="0">
                <a:solidFill>
                  <a:srgbClr val="1B2430"/>
                </a:solidFill>
                <a:latin typeface="IBM Plex Sans" pitchFamily="34" charset="0"/>
                <a:ea typeface="IBM Plex Sans" pitchFamily="34" charset="-122"/>
                <a:cs typeface="IBM Plex Sans" pitchFamily="34" charset="-120"/>
              </a:rPr>
              <a:t>Verifica</a:t>
            </a:r>
            <a:endParaRPr lang="en-US" sz="1300" dirty="0"/>
          </a:p>
        </p:txBody>
      </p:sp>
      <p:sp>
        <p:nvSpPr>
          <p:cNvPr id="27" name="Text 25"/>
          <p:cNvSpPr/>
          <p:nvPr/>
        </p:nvSpPr>
        <p:spPr>
          <a:xfrm>
            <a:off x="9572030" y="2369741"/>
            <a:ext cx="1673820" cy="68828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5C6673"/>
                </a:solidFill>
                <a:latin typeface="IBM Plex Sans" pitchFamily="34" charset="0"/>
                <a:ea typeface="IBM Plex Sans" pitchFamily="34" charset="-122"/>
                <a:cs typeface="IBM Plex Sans" pitchFamily="34" charset="-120"/>
              </a:rPr>
              <a:t>Overlay storico/vettoriale: nero dove coincidono</a:t>
            </a:r>
            <a:endParaRPr lang="en-US" sz="1200" dirty="0"/>
          </a:p>
        </p:txBody>
      </p:sp>
      <p:sp>
        <p:nvSpPr>
          <p:cNvPr id="28" name="Shape 26"/>
          <p:cNvSpPr/>
          <p:nvPr/>
        </p:nvSpPr>
        <p:spPr>
          <a:xfrm>
            <a:off x="812800" y="3419971"/>
            <a:ext cx="10566400" cy="850900"/>
          </a:xfrm>
          <a:prstGeom prst="roundRect">
            <a:avLst>
              <a:gd name="adj" fmla="val 11940"/>
            </a:avLst>
          </a:prstGeom>
          <a:solidFill>
            <a:srgbClr val="1B2430"/>
          </a:solidFill>
          <a:ln/>
        </p:spPr>
      </p:sp>
      <p:sp>
        <p:nvSpPr>
          <p:cNvPr id="29" name="Text 27"/>
          <p:cNvSpPr/>
          <p:nvPr/>
        </p:nvSpPr>
        <p:spPr>
          <a:xfrm>
            <a:off x="1041400" y="3597771"/>
            <a:ext cx="10412476"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AF9F7"/>
                </a:solidFill>
                <a:latin typeface="IBM Plex Sans" pitchFamily="34" charset="0"/>
                <a:ea typeface="IBM Plex Sans" pitchFamily="34" charset="-122"/>
                <a:cs typeface="IBM Plex Sans" pitchFamily="34" charset="-120"/>
              </a:rPr>
              <a:t>Il confronto fra la trasformazione stimata e quella vera, ricavata dai world file, misura l'errore in metri — senza annotare un solo punto a mano.</a:t>
            </a:r>
            <a:endParaRPr lang="en-US" sz="1300" dirty="0"/>
          </a:p>
        </p:txBody>
      </p:sp>
      <p:sp>
        <p:nvSpPr>
          <p:cNvPr id="30" name="Text 28"/>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31" name="Text 29"/>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3 / 8</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2430"/>
                </a:solidFill>
                <a:latin typeface="EB Garamond" pitchFamily="34" charset="0"/>
                <a:ea typeface="EB Garamond" pitchFamily="34" charset="-122"/>
                <a:cs typeface="EB Garamond" pitchFamily="34" charset="-120"/>
              </a:rPr>
              <a:t>I dati: foglio 49, Varazze</a:t>
            </a:r>
            <a:endParaRPr lang="en-US" sz="3000" dirty="0"/>
          </a:p>
        </p:txBody>
      </p:sp>
      <p:sp>
        <p:nvSpPr>
          <p:cNvPr id="3" name="Text 1"/>
          <p:cNvSpPr/>
          <p:nvPr/>
        </p:nvSpPr>
        <p:spPr>
          <a:xfrm>
            <a:off x="812800" y="1504950"/>
            <a:ext cx="5914860" cy="851991"/>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1B2430"/>
                </a:solidFill>
                <a:latin typeface="IBM Plex Sans" pitchFamily="34" charset="0"/>
                <a:ea typeface="IBM Plex Sans" pitchFamily="34" charset="-122"/>
                <a:cs typeface="IBM Plex Sans" pitchFamily="34" charset="-120"/>
              </a:rPr>
              <a:t>Dal servizio dell'Agenzia delle Entrate: la scansione dell'Originale di Impianto (8489×5648 px), il suo world file, e la cartografia vettoriale vigente (CXF) nello stesso sistema di riferimento.</a:t>
            </a:r>
            <a:endParaRPr lang="en-US" sz="1400" dirty="0"/>
          </a:p>
        </p:txBody>
      </p:sp>
      <p:sp>
        <p:nvSpPr>
          <p:cNvPr id="4" name="Text 2"/>
          <p:cNvSpPr/>
          <p:nvPr/>
        </p:nvSpPr>
        <p:spPr>
          <a:xfrm>
            <a:off x="812800" y="2483941"/>
            <a:ext cx="5914860" cy="851991"/>
          </a:xfrm>
          <a:prstGeom prst="rect">
            <a:avLst/>
          </a:prstGeom>
          <a:noFill/>
          <a:ln/>
        </p:spPr>
        <p:txBody>
          <a:bodyPr wrap="square" lIns="0" tIns="0" rIns="0" bIns="0" rtlCol="0" anchor="t">
            <a:normAutofit/>
          </a:bodyPr>
          <a:lstStyle/>
          <a:p>
            <a:pPr marL="0" indent="0" algn="l">
              <a:lnSpc>
                <a:spcPts val="2170"/>
              </a:lnSpc>
              <a:buNone/>
            </a:pPr>
            <a:r>
              <a:rPr lang="en-US" sz="1400" dirty="0">
                <a:solidFill>
                  <a:srgbClr val="1B2430"/>
                </a:solidFill>
                <a:latin typeface="IBM Plex Sans" pitchFamily="34" charset="0"/>
                <a:ea typeface="IBM Plex Sans" pitchFamily="34" charset="-122"/>
                <a:cs typeface="IBM Plex Sans" pitchFamily="34" charset="-120"/>
              </a:rPr>
              <a:t>Attenzione: lo stesso foglio ha anche una seconda variante vettoriale in un sistema diverso, facile da confondere con la prima. Si lavora su cinque ritagli, scelti dove il vettoriale copre per intero il disegno storico.</a:t>
            </a:r>
            <a:endParaRPr lang="en-US" sz="1400" dirty="0"/>
          </a:p>
        </p:txBody>
      </p:sp>
      <p:sp>
        <p:nvSpPr>
          <p:cNvPr id="5" name="Shape 3"/>
          <p:cNvSpPr/>
          <p:nvPr/>
        </p:nvSpPr>
        <p:spPr>
          <a:xfrm>
            <a:off x="6964958" y="1508125"/>
            <a:ext cx="4411067" cy="1052711"/>
          </a:xfrm>
          <a:prstGeom prst="roundRect">
            <a:avLst>
              <a:gd name="adj" fmla="val 9350"/>
            </a:avLst>
          </a:prstGeom>
          <a:solidFill>
            <a:srgbClr val="F1EFEA"/>
          </a:solidFill>
          <a:ln w="6350">
            <a:solidFill>
              <a:srgbClr val="DDD9D2"/>
            </a:solidFill>
            <a:prstDash val="solid"/>
          </a:ln>
        </p:spPr>
      </p:sp>
      <p:sp>
        <p:nvSpPr>
          <p:cNvPr id="6" name="Text 4"/>
          <p:cNvSpPr/>
          <p:nvPr/>
        </p:nvSpPr>
        <p:spPr>
          <a:xfrm>
            <a:off x="7145933" y="1689100"/>
            <a:ext cx="4170591"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1B2430"/>
                </a:solidFill>
                <a:latin typeface="EB Garamond" pitchFamily="34" charset="0"/>
                <a:ea typeface="EB Garamond" pitchFamily="34" charset="-122"/>
                <a:cs typeface="EB Garamond" pitchFamily="34" charset="-120"/>
              </a:rPr>
              <a:t>5</a:t>
            </a:r>
            <a:endParaRPr lang="en-US" sz="2400" dirty="0"/>
          </a:p>
        </p:txBody>
      </p:sp>
      <p:sp>
        <p:nvSpPr>
          <p:cNvPr id="7" name="Text 5"/>
          <p:cNvSpPr/>
          <p:nvPr/>
        </p:nvSpPr>
        <p:spPr>
          <a:xfrm>
            <a:off x="7145933" y="2166541"/>
            <a:ext cx="41705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ritagli reali, ~1000-1200 px di lato</a:t>
            </a:r>
            <a:endParaRPr lang="en-US" sz="1200" dirty="0"/>
          </a:p>
        </p:txBody>
      </p:sp>
      <p:sp>
        <p:nvSpPr>
          <p:cNvPr id="8" name="Shape 6"/>
          <p:cNvSpPr/>
          <p:nvPr/>
        </p:nvSpPr>
        <p:spPr>
          <a:xfrm>
            <a:off x="6964958" y="2694186"/>
            <a:ext cx="4411067" cy="1052711"/>
          </a:xfrm>
          <a:prstGeom prst="roundRect">
            <a:avLst>
              <a:gd name="adj" fmla="val 9350"/>
            </a:avLst>
          </a:prstGeom>
          <a:solidFill>
            <a:srgbClr val="F1EFEA"/>
          </a:solidFill>
          <a:ln w="6350">
            <a:solidFill>
              <a:srgbClr val="DDD9D2"/>
            </a:solidFill>
            <a:prstDash val="solid"/>
          </a:ln>
        </p:spPr>
      </p:sp>
      <p:sp>
        <p:nvSpPr>
          <p:cNvPr id="9" name="Text 7"/>
          <p:cNvSpPr/>
          <p:nvPr/>
        </p:nvSpPr>
        <p:spPr>
          <a:xfrm>
            <a:off x="7145933" y="2875161"/>
            <a:ext cx="4170591"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1B2430"/>
                </a:solidFill>
                <a:latin typeface="EB Garamond" pitchFamily="34" charset="0"/>
                <a:ea typeface="EB Garamond" pitchFamily="34" charset="-122"/>
                <a:cs typeface="EB Garamond" pitchFamily="34" charset="-120"/>
              </a:rPr>
              <a:t>0.254 m</a:t>
            </a:r>
            <a:endParaRPr lang="en-US" sz="2400" dirty="0"/>
          </a:p>
        </p:txBody>
      </p:sp>
      <p:sp>
        <p:nvSpPr>
          <p:cNvPr id="10" name="Text 8"/>
          <p:cNvSpPr/>
          <p:nvPr/>
        </p:nvSpPr>
        <p:spPr>
          <a:xfrm>
            <a:off x="7145933" y="3352602"/>
            <a:ext cx="417059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dimensione di un pixel — scala 1:2000</a:t>
            </a:r>
            <a:endParaRPr lang="en-US" sz="1200" dirty="0"/>
          </a:p>
        </p:txBody>
      </p:sp>
      <p:sp>
        <p:nvSpPr>
          <p:cNvPr id="11" name="Shape 9"/>
          <p:cNvSpPr/>
          <p:nvPr/>
        </p:nvSpPr>
        <p:spPr>
          <a:xfrm>
            <a:off x="6964958" y="3880247"/>
            <a:ext cx="4411067" cy="1266031"/>
          </a:xfrm>
          <a:prstGeom prst="roundRect">
            <a:avLst>
              <a:gd name="adj" fmla="val 7774"/>
            </a:avLst>
          </a:prstGeom>
          <a:solidFill>
            <a:srgbClr val="F1EFEA"/>
          </a:solidFill>
          <a:ln w="6350">
            <a:solidFill>
              <a:srgbClr val="DDD9D2"/>
            </a:solidFill>
            <a:prstDash val="solid"/>
          </a:ln>
        </p:spPr>
      </p:sp>
      <p:sp>
        <p:nvSpPr>
          <p:cNvPr id="12" name="Text 10"/>
          <p:cNvSpPr/>
          <p:nvPr/>
        </p:nvSpPr>
        <p:spPr>
          <a:xfrm>
            <a:off x="7145933" y="4061222"/>
            <a:ext cx="4170591" cy="452041"/>
          </a:xfrm>
          <a:prstGeom prst="rect">
            <a:avLst/>
          </a:prstGeom>
          <a:noFill/>
          <a:ln/>
        </p:spPr>
        <p:txBody>
          <a:bodyPr wrap="square" lIns="0" tIns="0" rIns="0" bIns="0" rtlCol="0" anchor="t">
            <a:normAutofit/>
          </a:bodyPr>
          <a:lstStyle/>
          <a:p>
            <a:pPr marL="0" indent="0" algn="l">
              <a:lnSpc>
                <a:spcPts val="3360"/>
              </a:lnSpc>
              <a:buNone/>
            </a:pPr>
            <a:r>
              <a:rPr lang="en-US" sz="2400" b="1" dirty="0">
                <a:solidFill>
                  <a:srgbClr val="B23A2E"/>
                </a:solidFill>
                <a:latin typeface="EB Garamond" pitchFamily="34" charset="0"/>
                <a:ea typeface="EB Garamond" pitchFamily="34" charset="-122"/>
                <a:cs typeface="EB Garamond" pitchFamily="34" charset="-120"/>
              </a:rPr>
              <a:t>0.56 m</a:t>
            </a:r>
            <a:endParaRPr lang="en-US" sz="2400" dirty="0"/>
          </a:p>
        </p:txBody>
      </p:sp>
      <p:sp>
        <p:nvSpPr>
          <p:cNvPr id="13" name="Text 11"/>
          <p:cNvSpPr/>
          <p:nvPr/>
        </p:nvSpPr>
        <p:spPr>
          <a:xfrm>
            <a:off x="7145933" y="4538663"/>
            <a:ext cx="417059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incertezza media del riferimento — il pavimento sotto cui l'errore non è più significativo</a:t>
            </a:r>
            <a:endParaRPr lang="en-US" sz="1200" dirty="0"/>
          </a:p>
        </p:txBody>
      </p:sp>
      <p:sp>
        <p:nvSpPr>
          <p:cNvPr id="14" name="Text 12"/>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15" name="Text 13"/>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4 / 8</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EB Garamond" pitchFamily="34" charset="0"/>
                <a:ea typeface="EB Garamond" pitchFamily="34" charset="-122"/>
                <a:cs typeface="EB Garamond" pitchFamily="34" charset="-120"/>
              </a:rPr>
              <a:t>Pulire il segnale prima di cercare i punti</a:t>
            </a:r>
            <a:endParaRPr lang="en-US" sz="2800" dirty="0"/>
          </a:p>
        </p:txBody>
      </p:sp>
      <p:sp>
        <p:nvSpPr>
          <p:cNvPr id="3" name="Shape 1"/>
          <p:cNvSpPr/>
          <p:nvPr/>
        </p:nvSpPr>
        <p:spPr>
          <a:xfrm>
            <a:off x="815975" y="1402655"/>
            <a:ext cx="3409950" cy="1578570"/>
          </a:xfrm>
          <a:prstGeom prst="roundRect">
            <a:avLst>
              <a:gd name="adj" fmla="val 7844"/>
            </a:avLst>
          </a:prstGeom>
          <a:solidFill>
            <a:srgbClr val="F1EFEA"/>
          </a:solidFill>
          <a:ln w="6350">
            <a:solidFill>
              <a:srgbClr val="DDD9D2"/>
            </a:solidFill>
            <a:prstDash val="solid"/>
          </a:ln>
        </p:spPr>
      </p:sp>
      <p:sp>
        <p:nvSpPr>
          <p:cNvPr id="4" name="Text 2"/>
          <p:cNvSpPr/>
          <p:nvPr/>
        </p:nvSpPr>
        <p:spPr>
          <a:xfrm>
            <a:off x="1022350" y="1609030"/>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30"/>
                </a:solidFill>
                <a:latin typeface="IBM Plex Sans" pitchFamily="34" charset="0"/>
                <a:ea typeface="IBM Plex Sans" pitchFamily="34" charset="-122"/>
                <a:cs typeface="IBM Plex Sans" pitchFamily="34" charset="-120"/>
              </a:rPr>
              <a:t>Otsu</a:t>
            </a:r>
            <a:endParaRPr lang="en-US" sz="1500" dirty="0"/>
          </a:p>
        </p:txBody>
      </p:sp>
      <p:sp>
        <p:nvSpPr>
          <p:cNvPr id="5" name="Text 3"/>
          <p:cNvSpPr/>
          <p:nvPr/>
        </p:nvSpPr>
        <p:spPr>
          <a:xfrm>
            <a:off x="1022350" y="1926530"/>
            <a:ext cx="3087116"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C6673"/>
                </a:solidFill>
                <a:latin typeface="IBM Plex Sans" pitchFamily="34" charset="0"/>
                <a:ea typeface="IBM Plex Sans" pitchFamily="34" charset="-122"/>
                <a:cs typeface="IBM Plex Sans" pitchFamily="34" charset="-120"/>
              </a:rPr>
              <a:t>Una soglia sola per tutta l'immagine. Cede se la carta cambia luminosità da una zona all'altra.</a:t>
            </a:r>
            <a:endParaRPr lang="en-US" sz="1200" dirty="0"/>
          </a:p>
        </p:txBody>
      </p:sp>
      <p:sp>
        <p:nvSpPr>
          <p:cNvPr id="6" name="Shape 4"/>
          <p:cNvSpPr/>
          <p:nvPr/>
        </p:nvSpPr>
        <p:spPr>
          <a:xfrm>
            <a:off x="4387850" y="1405830"/>
            <a:ext cx="3416300" cy="1572220"/>
          </a:xfrm>
          <a:prstGeom prst="roundRect">
            <a:avLst>
              <a:gd name="adj" fmla="val 7674"/>
            </a:avLst>
          </a:prstGeom>
          <a:solidFill>
            <a:srgbClr val="F1EFEA"/>
          </a:solidFill>
          <a:ln w="12700">
            <a:solidFill>
              <a:srgbClr val="2F6B4F"/>
            </a:solidFill>
            <a:prstDash val="solid"/>
          </a:ln>
        </p:spPr>
      </p:sp>
      <p:sp>
        <p:nvSpPr>
          <p:cNvPr id="7" name="Shape 5"/>
          <p:cNvSpPr/>
          <p:nvPr/>
        </p:nvSpPr>
        <p:spPr>
          <a:xfrm>
            <a:off x="4597400" y="1615380"/>
            <a:ext cx="2997200" cy="289520"/>
          </a:xfrm>
          <a:prstGeom prst="roundRect">
            <a:avLst>
              <a:gd name="adj" fmla="val 43866"/>
            </a:avLst>
          </a:prstGeom>
          <a:solidFill>
            <a:srgbClr val="2F6B4F"/>
          </a:solidFill>
          <a:ln/>
        </p:spPr>
      </p:sp>
      <p:sp>
        <p:nvSpPr>
          <p:cNvPr id="8" name="Text 6"/>
          <p:cNvSpPr/>
          <p:nvPr/>
        </p:nvSpPr>
        <p:spPr>
          <a:xfrm>
            <a:off x="4711700" y="1653480"/>
            <a:ext cx="2851658" cy="23872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AF9F7"/>
                </a:solidFill>
                <a:latin typeface="IBM Plex Sans" pitchFamily="34" charset="0"/>
                <a:ea typeface="IBM Plex Sans" pitchFamily="34" charset="-122"/>
                <a:cs typeface="IBM Plex Sans" pitchFamily="34" charset="-120"/>
              </a:rPr>
              <a:t>Configurazione migliore</a:t>
            </a:r>
            <a:endParaRPr lang="en-US" sz="1200" dirty="0"/>
          </a:p>
        </p:txBody>
      </p:sp>
      <p:sp>
        <p:nvSpPr>
          <p:cNvPr id="9" name="Text 7"/>
          <p:cNvSpPr/>
          <p:nvPr/>
        </p:nvSpPr>
        <p:spPr>
          <a:xfrm>
            <a:off x="4597400" y="1993801"/>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30"/>
                </a:solidFill>
                <a:latin typeface="IBM Plex Sans" pitchFamily="34" charset="0"/>
                <a:ea typeface="IBM Plex Sans" pitchFamily="34" charset="-122"/>
                <a:cs typeface="IBM Plex Sans" pitchFamily="34" charset="-120"/>
              </a:rPr>
              <a:t>Sauvola</a:t>
            </a:r>
            <a:endParaRPr lang="en-US" sz="1500" dirty="0"/>
          </a:p>
        </p:txBody>
      </p:sp>
      <p:sp>
        <p:nvSpPr>
          <p:cNvPr id="10" name="Text 8"/>
          <p:cNvSpPr/>
          <p:nvPr/>
        </p:nvSpPr>
        <p:spPr>
          <a:xfrm>
            <a:off x="4597400" y="2311301"/>
            <a:ext cx="3087116"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C6673"/>
                </a:solidFill>
                <a:latin typeface="IBM Plex Sans" pitchFamily="34" charset="0"/>
                <a:ea typeface="IBM Plex Sans" pitchFamily="34" charset="-122"/>
                <a:cs typeface="IBM Plex Sans" pitchFamily="34" charset="-120"/>
              </a:rPr>
              <a:t>Soglia locale, zona per zona. È la scelta che fa funzionare la registrazione sul caso reale.</a:t>
            </a:r>
            <a:endParaRPr lang="en-US" sz="1200" dirty="0"/>
          </a:p>
        </p:txBody>
      </p:sp>
      <p:sp>
        <p:nvSpPr>
          <p:cNvPr id="11" name="Shape 9"/>
          <p:cNvSpPr/>
          <p:nvPr/>
        </p:nvSpPr>
        <p:spPr>
          <a:xfrm>
            <a:off x="7966075" y="1402655"/>
            <a:ext cx="3409950" cy="1578570"/>
          </a:xfrm>
          <a:prstGeom prst="roundRect">
            <a:avLst>
              <a:gd name="adj" fmla="val 7844"/>
            </a:avLst>
          </a:prstGeom>
          <a:solidFill>
            <a:srgbClr val="F1EFEA"/>
          </a:solidFill>
          <a:ln w="6350">
            <a:solidFill>
              <a:srgbClr val="DDD9D2"/>
            </a:solidFill>
            <a:prstDash val="solid"/>
          </a:ln>
        </p:spPr>
      </p:sp>
      <p:sp>
        <p:nvSpPr>
          <p:cNvPr id="12" name="Text 10"/>
          <p:cNvSpPr/>
          <p:nvPr/>
        </p:nvSpPr>
        <p:spPr>
          <a:xfrm>
            <a:off x="8172450" y="1609030"/>
            <a:ext cx="30871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B2430"/>
                </a:solidFill>
                <a:latin typeface="IBM Plex Sans" pitchFamily="34" charset="0"/>
                <a:ea typeface="IBM Plex Sans" pitchFamily="34" charset="-122"/>
                <a:cs typeface="IBM Plex Sans" pitchFamily="34" charset="-120"/>
              </a:rPr>
              <a:t>CLAHE</a:t>
            </a:r>
            <a:endParaRPr lang="en-US" sz="1500" dirty="0"/>
          </a:p>
        </p:txBody>
      </p:sp>
      <p:sp>
        <p:nvSpPr>
          <p:cNvPr id="13" name="Text 11"/>
          <p:cNvSpPr/>
          <p:nvPr/>
        </p:nvSpPr>
        <p:spPr>
          <a:xfrm>
            <a:off x="8172450" y="1926530"/>
            <a:ext cx="3087116"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5C6673"/>
                </a:solidFill>
                <a:latin typeface="IBM Plex Sans" pitchFamily="34" charset="0"/>
                <a:ea typeface="IBM Plex Sans" pitchFamily="34" charset="-122"/>
                <a:cs typeface="IBM Plex Sans" pitchFamily="34" charset="-120"/>
              </a:rPr>
              <a:t>Non binarizza: aumenta il contrasto locale, mantenendo le sfumature su cui SIFT costruisce il descrittore.</a:t>
            </a:r>
            <a:endParaRPr lang="en-US" sz="1200" dirty="0"/>
          </a:p>
        </p:txBody>
      </p:sp>
      <p:sp>
        <p:nvSpPr>
          <p:cNvPr id="14" name="Shape 12"/>
          <p:cNvSpPr/>
          <p:nvPr/>
        </p:nvSpPr>
        <p:spPr>
          <a:xfrm>
            <a:off x="812800" y="3162201"/>
            <a:ext cx="5207000" cy="2679799"/>
          </a:xfrm>
          <a:prstGeom prst="roundRect">
            <a:avLst>
              <a:gd name="adj" fmla="val 4739"/>
            </a:avLst>
          </a:prstGeom>
          <a:solidFill>
            <a:srgbClr val="1B2430"/>
          </a:solidFill>
          <a:ln/>
        </p:spPr>
      </p:sp>
      <p:sp>
        <p:nvSpPr>
          <p:cNvPr id="15" name="Text 13"/>
          <p:cNvSpPr/>
          <p:nvPr/>
        </p:nvSpPr>
        <p:spPr>
          <a:xfrm>
            <a:off x="1016000" y="336540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AF9F7">
                    <a:alpha val="70000"/>
                  </a:srgbClr>
                </a:solidFill>
                <a:latin typeface="IBM Plex Sans" pitchFamily="34" charset="0"/>
                <a:ea typeface="IBM Plex Sans" pitchFamily="34" charset="-122"/>
                <a:cs typeface="IBM Plex Sans" pitchFamily="34" charset="-120"/>
              </a:rPr>
              <a:t>TROVARE I PUNTI</a:t>
            </a:r>
            <a:endParaRPr lang="en-US" sz="1200" dirty="0"/>
          </a:p>
        </p:txBody>
      </p:sp>
      <p:sp>
        <p:nvSpPr>
          <p:cNvPr id="16" name="Text 14"/>
          <p:cNvSpPr/>
          <p:nvPr/>
        </p:nvSpPr>
        <p:spPr>
          <a:xfrm>
            <a:off x="1016000" y="3654921"/>
            <a:ext cx="4944618"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AF9F7"/>
                </a:solidFill>
                <a:latin typeface="IBM Plex Sans" pitchFamily="34" charset="0"/>
                <a:ea typeface="IBM Plex Sans" pitchFamily="34" charset="-122"/>
                <a:cs typeface="IBM Plex Sans" pitchFamily="34" charset="-120"/>
              </a:rPr>
              <a:t>SIFT: preciso, filtro severo. ORB: economico, filtro permissivo — lascia passare centinaia di corrispondenze in più.</a:t>
            </a:r>
            <a:endParaRPr lang="en-US" sz="1300" dirty="0"/>
          </a:p>
        </p:txBody>
      </p:sp>
      <p:sp>
        <p:nvSpPr>
          <p:cNvPr id="17" name="Shape 15"/>
          <p:cNvSpPr/>
          <p:nvPr/>
        </p:nvSpPr>
        <p:spPr>
          <a:xfrm>
            <a:off x="6172200" y="3162201"/>
            <a:ext cx="5207000" cy="2679799"/>
          </a:xfrm>
          <a:prstGeom prst="roundRect">
            <a:avLst>
              <a:gd name="adj" fmla="val 4739"/>
            </a:avLst>
          </a:prstGeom>
          <a:solidFill>
            <a:srgbClr val="1B2430"/>
          </a:solidFill>
          <a:ln/>
        </p:spPr>
      </p:sp>
      <p:sp>
        <p:nvSpPr>
          <p:cNvPr id="18" name="Text 16"/>
          <p:cNvSpPr/>
          <p:nvPr/>
        </p:nvSpPr>
        <p:spPr>
          <a:xfrm>
            <a:off x="6375400" y="3365401"/>
            <a:ext cx="4944618" cy="238720"/>
          </a:xfrm>
          <a:prstGeom prst="rect">
            <a:avLst/>
          </a:prstGeom>
          <a:noFill/>
          <a:ln/>
        </p:spPr>
        <p:txBody>
          <a:bodyPr wrap="square" lIns="0" tIns="0" rIns="0" bIns="0" rtlCol="0" anchor="t">
            <a:normAutofit/>
          </a:bodyPr>
          <a:lstStyle/>
          <a:p>
            <a:pPr marL="0" indent="0" algn="l">
              <a:lnSpc>
                <a:spcPts val="1680"/>
              </a:lnSpc>
              <a:buNone/>
            </a:pPr>
            <a:r>
              <a:rPr lang="en-US" sz="1200" b="1" kern="0" spc="50" dirty="0">
                <a:solidFill>
                  <a:srgbClr val="FAF9F7">
                    <a:alpha val="70000"/>
                  </a:srgbClr>
                </a:solidFill>
                <a:latin typeface="IBM Plex Sans" pitchFamily="34" charset="0"/>
                <a:ea typeface="IBM Plex Sans" pitchFamily="34" charset="-122"/>
                <a:cs typeface="IBM Plex Sans" pitchFamily="34" charset="-120"/>
              </a:rPr>
              <a:t>IL MODELLO GEOMETRICO</a:t>
            </a:r>
            <a:endParaRPr lang="en-US" sz="1200" dirty="0"/>
          </a:p>
        </p:txBody>
      </p:sp>
      <p:sp>
        <p:nvSpPr>
          <p:cNvPr id="19" name="Text 17"/>
          <p:cNvSpPr/>
          <p:nvPr/>
        </p:nvSpPr>
        <p:spPr>
          <a:xfrm>
            <a:off x="6375400" y="3654921"/>
            <a:ext cx="4944618" cy="5207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FAF9F7"/>
                </a:solidFill>
                <a:latin typeface="IBM Plex Sans" pitchFamily="34" charset="0"/>
                <a:ea typeface="IBM Plex Sans" pitchFamily="34" charset="-122"/>
                <a:cs typeface="IBM Plex Sans" pitchFamily="34" charset="-120"/>
              </a:rPr>
              <a:t>Meno libertà = meno modi di accordarsi con dati sbagliati: prima similarità, poi affine, poi omografia.</a:t>
            </a:r>
            <a:endParaRPr lang="en-US" sz="1300" dirty="0"/>
          </a:p>
        </p:txBody>
      </p:sp>
      <p:sp>
        <p:nvSpPr>
          <p:cNvPr id="20" name="Text 18"/>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21" name="Text 19"/>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5 / 8</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2430"/>
                </a:solidFill>
                <a:latin typeface="EB Garamond" pitchFamily="34" charset="0"/>
                <a:ea typeface="EB Garamond" pitchFamily="34" charset="-122"/>
                <a:cs typeface="EB Garamond" pitchFamily="34" charset="-120"/>
              </a:rPr>
              <a:t>Dal sintetico al caso reale</a:t>
            </a:r>
            <a:endParaRPr lang="en-US" sz="3000" dirty="0"/>
          </a:p>
        </p:txBody>
      </p:sp>
      <p:sp>
        <p:nvSpPr>
          <p:cNvPr id="3" name="Shape 1"/>
          <p:cNvSpPr/>
          <p:nvPr/>
        </p:nvSpPr>
        <p:spPr>
          <a:xfrm>
            <a:off x="812800" y="1504950"/>
            <a:ext cx="7786291" cy="434280"/>
          </a:xfrm>
          <a:prstGeom prst="roundRect">
            <a:avLst>
              <a:gd name="adj" fmla="val 17546"/>
            </a:avLst>
          </a:prstGeom>
          <a:solidFill>
            <a:srgbClr val="F1EFEA"/>
          </a:solidFill>
          <a:ln/>
        </p:spPr>
      </p:sp>
      <p:sp>
        <p:nvSpPr>
          <p:cNvPr id="4" name="Text 2"/>
          <p:cNvSpPr/>
          <p:nvPr/>
        </p:nvSpPr>
        <p:spPr>
          <a:xfrm>
            <a:off x="965200" y="1606550"/>
            <a:ext cx="1023144"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F6B4F"/>
                </a:solidFill>
                <a:latin typeface="IBM Plex Sans" pitchFamily="34" charset="0"/>
                <a:ea typeface="IBM Plex Sans" pitchFamily="34" charset="-122"/>
                <a:cs typeface="IBM Plex Sans" pitchFamily="34" charset="-120"/>
              </a:rPr>
              <a:t>E1 — verifica</a:t>
            </a:r>
            <a:endParaRPr lang="en-US" sz="1300" dirty="0"/>
          </a:p>
        </p:txBody>
      </p:sp>
      <p:sp>
        <p:nvSpPr>
          <p:cNvPr id="5" name="Text 3"/>
          <p:cNvSpPr/>
          <p:nvPr/>
        </p:nvSpPr>
        <p:spPr>
          <a:xfrm>
            <a:off x="2039144" y="1615380"/>
            <a:ext cx="659977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Ritaglio contro se stesso, trasformazione nota: errore recuperato ≤ 1 px. La pipeline è corretta.</a:t>
            </a:r>
            <a:endParaRPr lang="en-US" sz="1200" dirty="0"/>
          </a:p>
        </p:txBody>
      </p:sp>
      <p:sp>
        <p:nvSpPr>
          <p:cNvPr id="6" name="Text 4"/>
          <p:cNvSpPr/>
          <p:nvPr/>
        </p:nvSpPr>
        <p:spPr>
          <a:xfrm>
            <a:off x="3164185" y="2915245"/>
            <a:ext cx="1485007" cy="1198860"/>
          </a:xfrm>
          <a:prstGeom prst="rect">
            <a:avLst/>
          </a:prstGeom>
          <a:noFill/>
          <a:ln/>
        </p:spPr>
        <p:txBody>
          <a:bodyPr wrap="square" lIns="0" tIns="0" rIns="0" bIns="0" rtlCol="0" anchor="t">
            <a:normAutofit/>
          </a:bodyPr>
          <a:lstStyle/>
          <a:p>
            <a:pPr marL="0" indent="0" algn="l">
              <a:lnSpc>
                <a:spcPts val="9240"/>
              </a:lnSpc>
              <a:buNone/>
            </a:pPr>
            <a:r>
              <a:rPr lang="en-US" sz="6600" b="1" dirty="0">
                <a:solidFill>
                  <a:srgbClr val="1B2430"/>
                </a:solidFill>
                <a:latin typeface="EB Garamond" pitchFamily="34" charset="0"/>
                <a:ea typeface="EB Garamond" pitchFamily="34" charset="-122"/>
                <a:cs typeface="EB Garamond" pitchFamily="34" charset="-120"/>
              </a:rPr>
              <a:t>90%</a:t>
            </a:r>
            <a:endParaRPr lang="en-US" sz="6600" dirty="0"/>
          </a:p>
        </p:txBody>
      </p:sp>
      <p:sp>
        <p:nvSpPr>
          <p:cNvPr id="7" name="Text 5"/>
          <p:cNvSpPr/>
          <p:nvPr/>
        </p:nvSpPr>
        <p:spPr>
          <a:xfrm>
            <a:off x="3151088" y="4139505"/>
            <a:ext cx="1460302"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C6673"/>
                </a:solidFill>
                <a:latin typeface="IBM Plex Sans" pitchFamily="34" charset="0"/>
                <a:ea typeface="IBM Plex Sans" pitchFamily="34" charset="-122"/>
                <a:cs typeface="IBM Plex Sans" pitchFamily="34" charset="-120"/>
              </a:rPr>
              <a:t>delle prove riuscite</a:t>
            </a:r>
            <a:endParaRPr lang="en-US" sz="1300" dirty="0"/>
          </a:p>
        </p:txBody>
      </p:sp>
      <p:sp>
        <p:nvSpPr>
          <p:cNvPr id="8" name="Shape 6"/>
          <p:cNvSpPr/>
          <p:nvPr/>
        </p:nvSpPr>
        <p:spPr>
          <a:xfrm>
            <a:off x="4903192" y="3071416"/>
            <a:ext cx="12700" cy="1143000"/>
          </a:xfrm>
          <a:prstGeom prst="rect">
            <a:avLst/>
          </a:prstGeom>
          <a:solidFill>
            <a:srgbClr val="DDD9D2"/>
          </a:solidFill>
          <a:ln/>
        </p:spPr>
      </p:sp>
      <p:sp>
        <p:nvSpPr>
          <p:cNvPr id="9" name="Text 7"/>
          <p:cNvSpPr/>
          <p:nvPr/>
        </p:nvSpPr>
        <p:spPr>
          <a:xfrm>
            <a:off x="5949454" y="2915245"/>
            <a:ext cx="2419985" cy="1198860"/>
          </a:xfrm>
          <a:prstGeom prst="rect">
            <a:avLst/>
          </a:prstGeom>
          <a:noFill/>
          <a:ln/>
        </p:spPr>
        <p:txBody>
          <a:bodyPr wrap="square" lIns="0" tIns="0" rIns="0" bIns="0" rtlCol="0" anchor="t">
            <a:normAutofit/>
          </a:bodyPr>
          <a:lstStyle/>
          <a:p>
            <a:pPr marL="0" indent="0" algn="l">
              <a:lnSpc>
                <a:spcPts val="9240"/>
              </a:lnSpc>
              <a:buNone/>
            </a:pPr>
            <a:r>
              <a:rPr lang="en-US" sz="6600" b="1" dirty="0">
                <a:solidFill>
                  <a:srgbClr val="B23A2E"/>
                </a:solidFill>
                <a:latin typeface="EB Garamond" pitchFamily="34" charset="0"/>
                <a:ea typeface="EB Garamond" pitchFamily="34" charset="-122"/>
                <a:cs typeface="EB Garamond" pitchFamily="34" charset="-120"/>
              </a:rPr>
              <a:t>0.33 m</a:t>
            </a:r>
            <a:endParaRPr lang="en-US" sz="6600" dirty="0"/>
          </a:p>
        </p:txBody>
      </p:sp>
      <p:sp>
        <p:nvSpPr>
          <p:cNvPr id="10" name="Text 8"/>
          <p:cNvSpPr/>
          <p:nvPr/>
        </p:nvSpPr>
        <p:spPr>
          <a:xfrm>
            <a:off x="5163585" y="4139505"/>
            <a:ext cx="3921336" cy="256480"/>
          </a:xfrm>
          <a:prstGeom prst="rect">
            <a:avLst/>
          </a:prstGeom>
          <a:noFill/>
          <a:ln/>
        </p:spPr>
        <p:txBody>
          <a:bodyPr wrap="square" lIns="0" tIns="0" rIns="0" bIns="0" rtlCol="0" anchor="t">
            <a:normAutofit/>
          </a:bodyPr>
          <a:lstStyle/>
          <a:p>
            <a:pPr marL="0" indent="0" algn="ctr">
              <a:lnSpc>
                <a:spcPts val="1820"/>
              </a:lnSpc>
              <a:buNone/>
            </a:pPr>
            <a:r>
              <a:rPr lang="en-US" sz="1300" dirty="0">
                <a:solidFill>
                  <a:srgbClr val="5C6673"/>
                </a:solidFill>
                <a:latin typeface="IBM Plex Sans" pitchFamily="34" charset="0"/>
                <a:ea typeface="IBM Plex Sans" pitchFamily="34" charset="-122"/>
                <a:cs typeface="IBM Plex Sans" pitchFamily="34" charset="-120"/>
              </a:rPr>
              <a:t>errore mediano — sotto il pavimento del riferimento</a:t>
            </a:r>
            <a:endParaRPr lang="en-US" sz="1300" dirty="0"/>
          </a:p>
        </p:txBody>
      </p:sp>
      <p:sp>
        <p:nvSpPr>
          <p:cNvPr id="11" name="Text 9"/>
          <p:cNvSpPr/>
          <p:nvPr/>
        </p:nvSpPr>
        <p:spPr>
          <a:xfrm>
            <a:off x="654304" y="5346700"/>
            <a:ext cx="10883392" cy="520700"/>
          </a:xfrm>
          <a:prstGeom prst="rect">
            <a:avLst/>
          </a:prstGeom>
          <a:noFill/>
          <a:ln/>
        </p:spPr>
        <p:txBody>
          <a:bodyPr wrap="square" lIns="0" tIns="0" rIns="0" bIns="0" rtlCol="0" anchor="t">
            <a:normAutofit/>
          </a:bodyPr>
          <a:lstStyle/>
          <a:p>
            <a:pPr marL="0" indent="0" algn="ctr">
              <a:lnSpc>
                <a:spcPts val="1950"/>
              </a:lnSpc>
              <a:buNone/>
            </a:pPr>
            <a:r>
              <a:rPr lang="en-US" sz="1300" dirty="0">
                <a:solidFill>
                  <a:srgbClr val="1B2430"/>
                </a:solidFill>
                <a:latin typeface="IBM Plex Sans" pitchFamily="34" charset="0"/>
                <a:ea typeface="IBM Plex Sans" pitchFamily="34" charset="-122"/>
                <a:cs typeface="IBM Plex Sans" pitchFamily="34" charset="-120"/>
              </a:rPr>
              <a:t>La combinazione vincente non è quella più prevedibile: </a:t>
            </a:r>
            <a:r>
              <a:rPr lang="en-US" sz="1300" b="1" dirty="0">
                <a:solidFill>
                  <a:srgbClr val="1B2430"/>
                </a:solidFill>
                <a:latin typeface="IBM Plex Sans" pitchFamily="34" charset="0"/>
                <a:ea typeface="IBM Plex Sans" pitchFamily="34" charset="-122"/>
                <a:cs typeface="IBM Plex Sans" pitchFamily="34" charset="-120"/>
              </a:rPr>
              <a:t>ORB</a:t>
            </a:r>
            <a:r>
              <a:rPr lang="en-US" sz="1300" dirty="0">
                <a:solidFill>
                  <a:srgbClr val="1B2430"/>
                </a:solidFill>
                <a:latin typeface="IBM Plex Sans" pitchFamily="34" charset="0"/>
                <a:ea typeface="IBM Plex Sans" pitchFamily="34" charset="-122"/>
                <a:cs typeface="IBM Plex Sans" pitchFamily="34" charset="-120"/>
              </a:rPr>
              <a:t>, non SIFT — </a:t>
            </a:r>
            <a:r>
              <a:rPr lang="en-US" sz="1300" b="1" dirty="0">
                <a:solidFill>
                  <a:srgbClr val="1B2430"/>
                </a:solidFill>
                <a:latin typeface="IBM Plex Sans" pitchFamily="34" charset="0"/>
                <a:ea typeface="IBM Plex Sans" pitchFamily="34" charset="-122"/>
                <a:cs typeface="IBM Plex Sans" pitchFamily="34" charset="-120"/>
              </a:rPr>
              <a:t>similarità</a:t>
            </a:r>
            <a:r>
              <a:rPr lang="en-US" sz="1300" dirty="0">
                <a:solidFill>
                  <a:srgbClr val="1B2430"/>
                </a:solidFill>
                <a:latin typeface="IBM Plex Sans" pitchFamily="34" charset="0"/>
                <a:ea typeface="IBM Plex Sans" pitchFamily="34" charset="-122"/>
                <a:cs typeface="IBM Plex Sans" pitchFamily="34" charset="-120"/>
              </a:rPr>
              <a:t>, non l'omografia più flessibile — con binarizzazione </a:t>
            </a:r>
            <a:r>
              <a:rPr lang="en-US" sz="1300" b="1" dirty="0">
                <a:solidFill>
                  <a:srgbClr val="1B2430"/>
                </a:solidFill>
                <a:latin typeface="IBM Plex Sans" pitchFamily="34" charset="0"/>
                <a:ea typeface="IBM Plex Sans" pitchFamily="34" charset="-122"/>
                <a:cs typeface="IBM Plex Sans" pitchFamily="34" charset="-120"/>
              </a:rPr>
              <a:t>Sauvola</a:t>
            </a:r>
            <a:r>
              <a:rPr lang="en-US" sz="1300" dirty="0">
                <a:solidFill>
                  <a:srgbClr val="1B2430"/>
                </a:solidFill>
                <a:latin typeface="IBM Plex Sans" pitchFamily="34" charset="0"/>
                <a:ea typeface="IBM Plex Sans" pitchFamily="34" charset="-122"/>
                <a:cs typeface="IBM Plex Sans" pitchFamily="34" charset="-120"/>
              </a:rPr>
              <a:t>.</a:t>
            </a:r>
            <a:endParaRPr lang="en-US" sz="1300" dirty="0"/>
          </a:p>
        </p:txBody>
      </p:sp>
      <p:sp>
        <p:nvSpPr>
          <p:cNvPr id="12" name="Text 10"/>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13" name="Text 11"/>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6 / 8</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34280"/>
          </a:xfrm>
          <a:prstGeom prst="rect">
            <a:avLst/>
          </a:prstGeom>
          <a:noFill/>
          <a:ln/>
        </p:spPr>
        <p:txBody>
          <a:bodyPr wrap="square" lIns="0" tIns="0" rIns="0" bIns="0" rtlCol="0" anchor="t">
            <a:normAutofit/>
          </a:bodyPr>
          <a:lstStyle/>
          <a:p>
            <a:pPr marL="0" indent="0" algn="l">
              <a:lnSpc>
                <a:spcPts val="3220"/>
              </a:lnSpc>
              <a:buNone/>
            </a:pPr>
            <a:r>
              <a:rPr lang="en-US" sz="2800" b="1" dirty="0">
                <a:solidFill>
                  <a:srgbClr val="1B2430"/>
                </a:solidFill>
                <a:latin typeface="EB Garamond" pitchFamily="34" charset="0"/>
                <a:ea typeface="EB Garamond" pitchFamily="34" charset="-122"/>
                <a:cs typeface="EB Garamond" pitchFamily="34" charset="-120"/>
              </a:rPr>
              <a:t>Classico contro deep learning</a:t>
            </a:r>
            <a:endParaRPr lang="en-US" sz="28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812800" y="1374080"/>
          <a:ext cx="10566400" cy="1437084"/>
        </p:xfrm>
        <a:graphic>
          <a:graphicData uri="http://schemas.openxmlformats.org/drawingml/2006/table">
            <a:tbl>
              <a:tblPr/>
              <a:tblGrid>
                <a:gridCol w="1901952">
                  <a:extLst>
                    <a:ext uri="{9D8B030D-6E8A-4147-A177-3AD203B41FA5}">
                      <a16:colId xmlns:a16="http://schemas.microsoft.com/office/drawing/2014/main" val="20000"/>
                    </a:ext>
                  </a:extLst>
                </a:gridCol>
                <a:gridCol w="3381248">
                  <a:extLst>
                    <a:ext uri="{9D8B030D-6E8A-4147-A177-3AD203B41FA5}">
                      <a16:colId xmlns:a16="http://schemas.microsoft.com/office/drawing/2014/main" val="20001"/>
                    </a:ext>
                  </a:extLst>
                </a:gridCol>
                <a:gridCol w="1690624">
                  <a:extLst>
                    <a:ext uri="{9D8B030D-6E8A-4147-A177-3AD203B41FA5}">
                      <a16:colId xmlns:a16="http://schemas.microsoft.com/office/drawing/2014/main" val="20002"/>
                    </a:ext>
                  </a:extLst>
                </a:gridCol>
                <a:gridCol w="1796288">
                  <a:extLst>
                    <a:ext uri="{9D8B030D-6E8A-4147-A177-3AD203B41FA5}">
                      <a16:colId xmlns:a16="http://schemas.microsoft.com/office/drawing/2014/main" val="20003"/>
                    </a:ext>
                  </a:extLst>
                </a:gridCol>
                <a:gridCol w="1796288">
                  <a:extLst>
                    <a:ext uri="{9D8B030D-6E8A-4147-A177-3AD203B41FA5}">
                      <a16:colId xmlns:a16="http://schemas.microsoft.com/office/drawing/2014/main" val="20004"/>
                    </a:ext>
                  </a:extLst>
                </a:gridCol>
              </a:tblGrid>
              <a:tr h="359271">
                <a:tc>
                  <a:txBody>
                    <a:bodyPr/>
                    <a:lstStyle/>
                    <a:p>
                      <a:pPr marL="0" indent="0">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Matcher</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E8E8E7"/>
                    </a:solidFill>
                  </a:tcPr>
                </a:tc>
                <a:tc>
                  <a:txBody>
                    <a:bodyPr/>
                    <a:lstStyle/>
                    <a:p>
                      <a:pPr marL="0" indent="0">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Configurazione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E8E8E7"/>
                    </a:solidFill>
                  </a:tcPr>
                </a:tc>
                <a:tc>
                  <a:txBody>
                    <a:bodyPr/>
                    <a:lstStyle/>
                    <a:p>
                      <a:pPr marL="0" indent="0">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Successo</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E8E8E7"/>
                    </a:solidFill>
                  </a:tcPr>
                </a:tc>
                <a:tc>
                  <a:txBody>
                    <a:bodyPr/>
                    <a:lstStyle/>
                    <a:p>
                      <a:pPr marL="0" indent="0">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RMSE mediano*</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E8E8E7"/>
                    </a:solidFill>
                  </a:tcPr>
                </a:tc>
                <a:tc>
                  <a:txBody>
                    <a:bodyPr/>
                    <a:lstStyle/>
                    <a:p>
                      <a:pPr marL="0" indent="0">
                        <a:lnSpc>
                          <a:spcPts val="1820"/>
                        </a:lnSpc>
                        <a:buNone/>
                      </a:pPr>
                      <a:r>
                        <a:rPr lang="en-US" sz="1300" b="1" dirty="0">
                          <a:solidFill>
                            <a:srgbClr val="1B2430"/>
                          </a:solidFill>
                          <a:latin typeface="IBM Plex Sans" pitchFamily="34" charset="0"/>
                          <a:ea typeface="IBM Plex Sans" pitchFamily="34" charset="-122"/>
                          <a:cs typeface="IBM Plex Sans" pitchFamily="34" charset="-120"/>
                        </a:rPr>
                        <a:t>Tempo</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E8E8E7"/>
                    </a:solidFill>
                  </a:tcPr>
                </a:tc>
                <a:extLst>
                  <a:ext uri="{0D108BD9-81ED-4DB2-BD59-A6C34878D82A}">
                    <a16:rowId xmlns:a16="http://schemas.microsoft.com/office/drawing/2014/main" val="10000"/>
                  </a:ext>
                </a:extLst>
              </a:tr>
              <a:tr h="359271">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ORB</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Sauvola+chiusura, similarità</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0.28 m</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87 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extLst>
                  <a:ext uri="{0D108BD9-81ED-4DB2-BD59-A6C34878D82A}">
                    <a16:rowId xmlns:a16="http://schemas.microsoft.com/office/drawing/2014/main" val="10001"/>
                  </a:ext>
                </a:extLst>
              </a:tr>
              <a:tr h="359271">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LoFTR</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F1EFEA"/>
                    </a:solidFill>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Sauvola, similarità</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F1EFEA"/>
                    </a:solidFill>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90%</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F1EFEA"/>
                    </a:solidFill>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0.34 m</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F1EFEA"/>
                    </a:solidFill>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3238 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solidFill>
                      <a:srgbClr val="F1EFEA"/>
                    </a:solidFill>
                  </a:tcPr>
                </a:tc>
                <a:extLst>
                  <a:ext uri="{0D108BD9-81ED-4DB2-BD59-A6C34878D82A}">
                    <a16:rowId xmlns:a16="http://schemas.microsoft.com/office/drawing/2014/main" val="10002"/>
                  </a:ext>
                </a:extLst>
              </a:tr>
              <a:tr h="359271">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SIFT</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Sauvola, affine</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40%</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0.86 m</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tc>
                  <a:txBody>
                    <a:bodyPr/>
                    <a:lstStyle/>
                    <a:p>
                      <a:pPr marL="0" indent="0">
                        <a:lnSpc>
                          <a:spcPts val="1820"/>
                        </a:lnSpc>
                        <a:buNone/>
                      </a:pPr>
                      <a:r>
                        <a:rPr lang="en-US" sz="1300" dirty="0">
                          <a:solidFill>
                            <a:srgbClr val="1B2430"/>
                          </a:solidFill>
                          <a:latin typeface="IBM Plex Sans" pitchFamily="34" charset="0"/>
                          <a:ea typeface="IBM Plex Sans" pitchFamily="34" charset="-122"/>
                          <a:cs typeface="IBM Plex Sans" pitchFamily="34" charset="-120"/>
                        </a:rPr>
                        <a:t>362 ms</a:t>
                      </a:r>
                      <a:endParaRPr lang="en-US" sz="1300" dirty="0">
                        <a:latin typeface="IBM Plex Sans" charset="0"/>
                        <a:ea typeface="IBM Plex Sans" charset="0"/>
                        <a:cs typeface="IBM Plex Sans" charset="0"/>
                      </a:endParaRPr>
                    </a:p>
                  </a:txBody>
                  <a:tcPr marL="57785" marR="57785" marT="57785" marB="57785">
                    <a:lnL w="12700" cap="flat" cmpd="sng" algn="ctr">
                      <a:solidFill>
                        <a:srgbClr val="C9CACB"/>
                      </a:solidFill>
                      <a:prstDash val="solid"/>
                      <a:round/>
                      <a:headEnd type="none" w="med" len="med"/>
                      <a:tailEnd type="none" w="med" len="med"/>
                    </a:lnL>
                    <a:lnR w="12700" cap="flat" cmpd="sng" algn="ctr">
                      <a:solidFill>
                        <a:srgbClr val="C9CACB"/>
                      </a:solidFill>
                      <a:prstDash val="solid"/>
                      <a:round/>
                      <a:headEnd type="none" w="med" len="med"/>
                      <a:tailEnd type="none" w="med" len="med"/>
                    </a:lnR>
                    <a:lnT w="12700" cap="flat" cmpd="sng" algn="ctr">
                      <a:solidFill>
                        <a:srgbClr val="C9CACB"/>
                      </a:solidFill>
                      <a:prstDash val="solid"/>
                      <a:round/>
                      <a:headEnd type="none" w="med" len="med"/>
                      <a:tailEnd type="none" w="med" len="med"/>
                    </a:lnT>
                    <a:lnB w="12700" cap="flat" cmpd="sng" algn="ctr">
                      <a:solidFill>
                        <a:srgbClr val="C9CAC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Text 1"/>
          <p:cNvSpPr/>
          <p:nvPr/>
        </p:nvSpPr>
        <p:spPr>
          <a:xfrm>
            <a:off x="812800" y="2976265"/>
            <a:ext cx="108833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*mediano sulle sole prove riuscite; configurazione migliore per ciascun matcher.</a:t>
            </a:r>
            <a:endParaRPr lang="en-US" sz="1200" dirty="0"/>
          </a:p>
        </p:txBody>
      </p:sp>
      <p:sp>
        <p:nvSpPr>
          <p:cNvPr id="5" name="Shape 2"/>
          <p:cNvSpPr/>
          <p:nvPr/>
        </p:nvSpPr>
        <p:spPr>
          <a:xfrm>
            <a:off x="812800" y="3341985"/>
            <a:ext cx="5130800" cy="2500015"/>
          </a:xfrm>
          <a:prstGeom prst="roundRect">
            <a:avLst>
              <a:gd name="adj" fmla="val 5080"/>
            </a:avLst>
          </a:prstGeom>
          <a:solidFill>
            <a:srgbClr val="F1EFEA"/>
          </a:solidFill>
          <a:ln/>
        </p:spPr>
      </p:sp>
      <p:sp>
        <p:nvSpPr>
          <p:cNvPr id="6" name="Text 3"/>
          <p:cNvSpPr/>
          <p:nvPr/>
        </p:nvSpPr>
        <p:spPr>
          <a:xfrm>
            <a:off x="1016000" y="3545185"/>
            <a:ext cx="48661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30"/>
                </a:solidFill>
                <a:latin typeface="IBM Plex Sans" pitchFamily="34" charset="0"/>
                <a:ea typeface="IBM Plex Sans" pitchFamily="34" charset="-122"/>
                <a:cs typeface="IBM Plex Sans" pitchFamily="34" charset="-120"/>
              </a:rPr>
              <a:t>LoFTR non ribalta il risultato</a:t>
            </a:r>
            <a:endParaRPr lang="en-US" sz="1400" dirty="0"/>
          </a:p>
        </p:txBody>
      </p:sp>
      <p:sp>
        <p:nvSpPr>
          <p:cNvPr id="7" name="Text 4"/>
          <p:cNvSpPr/>
          <p:nvPr/>
        </p:nvSpPr>
        <p:spPr>
          <a:xfrm>
            <a:off x="1016000" y="3834705"/>
            <a:ext cx="4866132" cy="7112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Pareggia ORB sul tasso di successo (90%)</a:t>
            </a:r>
            <a:endParaRPr lang="en-US" sz="1200" dirty="0"/>
          </a:p>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RMSE leggermente peggiore, tempo 37× superiore</a:t>
            </a:r>
            <a:endParaRPr lang="en-US" sz="1200" dirty="0"/>
          </a:p>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Ma corrispondenze molto più pulite: 29% contro 5% di inlier</a:t>
            </a:r>
            <a:endParaRPr lang="en-US" sz="1200" dirty="0"/>
          </a:p>
        </p:txBody>
      </p:sp>
      <p:sp>
        <p:nvSpPr>
          <p:cNvPr id="8" name="Shape 5"/>
          <p:cNvSpPr/>
          <p:nvPr/>
        </p:nvSpPr>
        <p:spPr>
          <a:xfrm>
            <a:off x="6248400" y="3341985"/>
            <a:ext cx="5130800" cy="2500015"/>
          </a:xfrm>
          <a:prstGeom prst="roundRect">
            <a:avLst>
              <a:gd name="adj" fmla="val 5080"/>
            </a:avLst>
          </a:prstGeom>
          <a:solidFill>
            <a:srgbClr val="F1EFEA"/>
          </a:solidFill>
          <a:ln/>
        </p:spPr>
      </p:sp>
      <p:sp>
        <p:nvSpPr>
          <p:cNvPr id="9" name="Text 6"/>
          <p:cNvSpPr/>
          <p:nvPr/>
        </p:nvSpPr>
        <p:spPr>
          <a:xfrm>
            <a:off x="6451600" y="3545185"/>
            <a:ext cx="48661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1B2430"/>
                </a:solidFill>
                <a:latin typeface="IBM Plex Sans" pitchFamily="34" charset="0"/>
                <a:ea typeface="IBM Plex Sans" pitchFamily="34" charset="-122"/>
                <a:cs typeface="IBM Plex Sans" pitchFamily="34" charset="-120"/>
              </a:rPr>
              <a:t>Tre limiti da dichiarare</a:t>
            </a:r>
            <a:endParaRPr lang="en-US" sz="1400" dirty="0"/>
          </a:p>
        </p:txBody>
      </p:sp>
      <p:sp>
        <p:nvSpPr>
          <p:cNvPr id="10" name="Text 7"/>
          <p:cNvSpPr/>
          <p:nvPr/>
        </p:nvSpPr>
        <p:spPr>
          <a:xfrm>
            <a:off x="6451600" y="3834705"/>
            <a:ext cx="4866132" cy="711200"/>
          </a:xfrm>
          <a:prstGeom prst="rect">
            <a:avLst/>
          </a:prstGeom>
          <a:noFill/>
          <a:ln/>
        </p:spPr>
        <p:txBody>
          <a:bodyPr wrap="square" lIns="0" tIns="0" rIns="0" bIns="0" rtlCol="0" anchor="t">
            <a:normAutofit/>
          </a:bodyPr>
          <a:lstStyle/>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Il vettoriale è la mappa di oggi, non l'impianto storico</a:t>
            </a:r>
            <a:endParaRPr lang="en-US" sz="1200" dirty="0"/>
          </a:p>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Dataset di validazione, non di applicazione diretta</a:t>
            </a:r>
            <a:endParaRPr lang="en-US" sz="1200" dirty="0"/>
          </a:p>
          <a:p>
            <a:pPr marL="342900" indent="-342900" algn="l">
              <a:lnSpc>
                <a:spcPts val="1800"/>
              </a:lnSpc>
              <a:buSzPct val="100000"/>
              <a:buChar char="•"/>
            </a:pPr>
            <a:r>
              <a:rPr lang="en-US" sz="1200" dirty="0">
                <a:solidFill>
                  <a:srgbClr val="5C6673"/>
                </a:solidFill>
                <a:latin typeface="IBM Plex Sans" pitchFamily="34" charset="0"/>
                <a:ea typeface="IBM Plex Sans" pitchFamily="34" charset="-122"/>
                <a:cs typeface="IBM Plex Sans" pitchFamily="34" charset="-120"/>
              </a:rPr>
              <a:t>Le misure indirette di allineamento non sono affidabili qui</a:t>
            </a:r>
            <a:endParaRPr lang="en-US" sz="1200" dirty="0"/>
          </a:p>
        </p:txBody>
      </p:sp>
      <p:sp>
        <p:nvSpPr>
          <p:cNvPr id="11" name="Text 8"/>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12" name="Text 9"/>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7 / 8</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dirty="0">
                <a:solidFill>
                  <a:srgbClr val="1B2430"/>
                </a:solidFill>
                <a:latin typeface="EB Garamond" pitchFamily="34" charset="0"/>
                <a:ea typeface="EB Garamond" pitchFamily="34" charset="-122"/>
                <a:cs typeface="EB Garamond" pitchFamily="34" charset="-120"/>
              </a:rPr>
              <a:t>Cosa resta, oltre questo foglio</a:t>
            </a:r>
            <a:endParaRPr lang="en-US" sz="3000" dirty="0"/>
          </a:p>
        </p:txBody>
      </p:sp>
      <p:sp>
        <p:nvSpPr>
          <p:cNvPr id="3" name="Text 1"/>
          <p:cNvSpPr/>
          <p:nvPr/>
        </p:nvSpPr>
        <p:spPr>
          <a:xfrm>
            <a:off x="812800" y="1428750"/>
            <a:ext cx="10883392" cy="3342680"/>
          </a:xfrm>
          <a:prstGeom prst="rect">
            <a:avLst/>
          </a:prstGeom>
          <a:noFill/>
          <a:ln/>
        </p:spPr>
        <p:txBody>
          <a:bodyPr wrap="square" lIns="0" tIns="0" rIns="0" bIns="0" rtlCol="0" anchor="t">
            <a:normAutofit/>
          </a:bodyPr>
          <a:lstStyle/>
          <a:p>
            <a:pPr marL="342900" indent="-342900" algn="l">
              <a:lnSpc>
                <a:spcPts val="2170"/>
              </a:lnSpc>
              <a:buSzPct val="100000"/>
              <a:buFont typeface="+mj-lt"/>
              <a:buAutoNum type="arabicPeriod"/>
            </a:pPr>
            <a:r>
              <a:rPr lang="en-US" sz="1400" b="1" dirty="0">
                <a:solidFill>
                  <a:srgbClr val="1B2430"/>
                </a:solidFill>
                <a:latin typeface="IBM Plex Sans" pitchFamily="34" charset="0"/>
                <a:ea typeface="IBM Plex Sans" pitchFamily="34" charset="-122"/>
                <a:cs typeface="IBM Plex Sans" pitchFamily="34" charset="-120"/>
              </a:rPr>
              <a:t>La pipeline è corretta</a:t>
            </a:r>
            <a:r>
              <a:rPr lang="en-US" sz="1400" dirty="0">
                <a:solidFill>
                  <a:srgbClr val="1B2430"/>
                </a:solidFill>
                <a:latin typeface="IBM Plex Sans" pitchFamily="34" charset="0"/>
                <a:ea typeface="IBM Plex Sans" pitchFamily="34" charset="-122"/>
                <a:cs typeface="IBM Plex Sans" pitchFamily="34" charset="-120"/>
              </a:rPr>
              <a:t>: errore sub-pixel sul caso sintetico.</a:t>
            </a:r>
            <a:endParaRPr lang="en-US" sz="1400" dirty="0"/>
          </a:p>
          <a:p>
            <a:pPr marL="342900" indent="-342900" algn="l">
              <a:lnSpc>
                <a:spcPts val="2170"/>
              </a:lnSpc>
              <a:buSzPct val="100000"/>
              <a:buFont typeface="+mj-lt"/>
              <a:buAutoNum type="arabicPeriod"/>
            </a:pPr>
            <a:r>
              <a:rPr lang="en-US" sz="1400" b="1" dirty="0">
                <a:solidFill>
                  <a:srgbClr val="1B2430"/>
                </a:solidFill>
                <a:latin typeface="IBM Plex Sans" pitchFamily="34" charset="0"/>
                <a:ea typeface="IBM Plex Sans" pitchFamily="34" charset="-122"/>
                <a:cs typeface="IBM Plex Sans" pitchFamily="34" charset="-120"/>
              </a:rPr>
              <a:t>La registrazione cross-domain riesce</a:t>
            </a:r>
            <a:r>
              <a:rPr lang="en-US" sz="1400" dirty="0">
                <a:solidFill>
                  <a:srgbClr val="1B2430"/>
                </a:solidFill>
                <a:latin typeface="IBM Plex Sans" pitchFamily="34" charset="0"/>
                <a:ea typeface="IBM Plex Sans" pitchFamily="34" charset="-122"/>
                <a:cs typeface="IBM Plex Sans" pitchFamily="34" charset="-120"/>
              </a:rPr>
              <a:t>: 90% di successo, errore mediano 0.33 m.</a:t>
            </a:r>
            <a:endParaRPr lang="en-US" sz="1400" dirty="0"/>
          </a:p>
          <a:p>
            <a:pPr marL="342900" indent="-342900" algn="l">
              <a:lnSpc>
                <a:spcPts val="2170"/>
              </a:lnSpc>
              <a:buSzPct val="100000"/>
              <a:buFont typeface="+mj-lt"/>
              <a:buAutoNum type="arabicPeriod"/>
            </a:pPr>
            <a:r>
              <a:rPr lang="en-US" sz="1400" b="1" dirty="0">
                <a:solidFill>
                  <a:srgbClr val="1B2430"/>
                </a:solidFill>
                <a:latin typeface="IBM Plex Sans" pitchFamily="34" charset="0"/>
                <a:ea typeface="IBM Plex Sans" pitchFamily="34" charset="-122"/>
                <a:cs typeface="IBM Plex Sans" pitchFamily="34" charset="-120"/>
              </a:rPr>
              <a:t>Il modello geometrico conta più del matcher</a:t>
            </a:r>
            <a:r>
              <a:rPr lang="en-US" sz="1400" dirty="0">
                <a:solidFill>
                  <a:srgbClr val="1B2430"/>
                </a:solidFill>
                <a:latin typeface="IBM Plex Sans" pitchFamily="34" charset="0"/>
                <a:ea typeface="IBM Plex Sans" pitchFamily="34" charset="-122"/>
                <a:cs typeface="IBM Plex Sans" pitchFamily="34" charset="-120"/>
              </a:rPr>
              <a:t>: vincolare a similarità porta il successo dal 27% al 52%.</a:t>
            </a:r>
            <a:endParaRPr lang="en-US" sz="1400" dirty="0"/>
          </a:p>
          <a:p>
            <a:pPr marL="342900" indent="-342900" algn="l">
              <a:lnSpc>
                <a:spcPts val="2170"/>
              </a:lnSpc>
              <a:buSzPct val="100000"/>
              <a:buFont typeface="+mj-lt"/>
              <a:buAutoNum type="arabicPeriod"/>
            </a:pPr>
            <a:r>
              <a:rPr lang="en-US" sz="1400" b="1" dirty="0">
                <a:solidFill>
                  <a:srgbClr val="1B2430"/>
                </a:solidFill>
                <a:latin typeface="IBM Plex Sans" pitchFamily="34" charset="0"/>
                <a:ea typeface="IBM Plex Sans" pitchFamily="34" charset="-122"/>
                <a:cs typeface="IBM Plex Sans" pitchFamily="34" charset="-120"/>
              </a:rPr>
              <a:t>Il deep learning non ribalta il risultato</a:t>
            </a:r>
            <a:r>
              <a:rPr lang="en-US" sz="1400" dirty="0">
                <a:solidFill>
                  <a:srgbClr val="1B2430"/>
                </a:solidFill>
                <a:latin typeface="IBM Plex Sans" pitchFamily="34" charset="0"/>
                <a:ea typeface="IBM Plex Sans" pitchFamily="34" charset="-122"/>
                <a:cs typeface="IBM Plex Sans" pitchFamily="34" charset="-120"/>
              </a:rPr>
              <a:t>: LoFTR pareggia ORB, a un costo di calcolo molto maggiore.</a:t>
            </a:r>
            <a:endParaRPr lang="en-US" sz="1400" dirty="0"/>
          </a:p>
          <a:p>
            <a:pPr marL="342900" indent="-342900" algn="l">
              <a:lnSpc>
                <a:spcPts val="2170"/>
              </a:lnSpc>
              <a:buSzPct val="100000"/>
              <a:buFont typeface="+mj-lt"/>
              <a:buAutoNum type="arabicPeriod"/>
            </a:pPr>
            <a:r>
              <a:rPr lang="en-US" sz="1400" b="1" dirty="0">
                <a:solidFill>
                  <a:srgbClr val="1B2430"/>
                </a:solidFill>
                <a:latin typeface="IBM Plex Sans" pitchFamily="34" charset="0"/>
                <a:ea typeface="IBM Plex Sans" pitchFamily="34" charset="-122"/>
                <a:cs typeface="IBM Plex Sans" pitchFamily="34" charset="-120"/>
              </a:rPr>
              <a:t>Il preprocessing conta più dell'algoritmo</a:t>
            </a:r>
            <a:r>
              <a:rPr lang="en-US" sz="1400" dirty="0">
                <a:solidFill>
                  <a:srgbClr val="1B2430"/>
                </a:solidFill>
                <a:latin typeface="IBM Plex Sans" pitchFamily="34" charset="0"/>
                <a:ea typeface="IBM Plex Sans" pitchFamily="34" charset="-122"/>
                <a:cs typeface="IBM Plex Sans" pitchFamily="34" charset="-120"/>
              </a:rPr>
              <a:t>: la binarizzazione locale rende il problema trattabile per tutti i metodi.</a:t>
            </a:r>
            <a:endParaRPr lang="en-US" sz="1400" dirty="0"/>
          </a:p>
        </p:txBody>
      </p:sp>
      <p:sp>
        <p:nvSpPr>
          <p:cNvPr id="4" name="Shape 2"/>
          <p:cNvSpPr/>
          <p:nvPr/>
        </p:nvSpPr>
        <p:spPr>
          <a:xfrm>
            <a:off x="812800" y="4923830"/>
            <a:ext cx="10566400" cy="918170"/>
          </a:xfrm>
          <a:prstGeom prst="roundRect">
            <a:avLst>
              <a:gd name="adj" fmla="val 11065"/>
            </a:avLst>
          </a:prstGeom>
          <a:solidFill>
            <a:srgbClr val="1B2430"/>
          </a:solidFill>
          <a:ln/>
        </p:spPr>
      </p:sp>
      <p:sp>
        <p:nvSpPr>
          <p:cNvPr id="5" name="Text 3"/>
          <p:cNvSpPr/>
          <p:nvPr/>
        </p:nvSpPr>
        <p:spPr>
          <a:xfrm>
            <a:off x="1066800" y="5127030"/>
            <a:ext cx="10360152" cy="537170"/>
          </a:xfrm>
          <a:prstGeom prst="rect">
            <a:avLst/>
          </a:prstGeom>
          <a:noFill/>
          <a:ln/>
        </p:spPr>
        <p:txBody>
          <a:bodyPr wrap="square" lIns="0" tIns="0" rIns="0" bIns="0" rtlCol="0" anchor="t">
            <a:normAutofit/>
          </a:bodyPr>
          <a:lstStyle/>
          <a:p>
            <a:pPr marL="0" indent="0" algn="l">
              <a:lnSpc>
                <a:spcPts val="2015"/>
              </a:lnSpc>
              <a:buNone/>
            </a:pPr>
            <a:r>
              <a:rPr lang="en-US" sz="1300" dirty="0">
                <a:solidFill>
                  <a:srgbClr val="FAF9F7"/>
                </a:solidFill>
                <a:latin typeface="IBM Plex Sans" pitchFamily="34" charset="0"/>
                <a:ea typeface="IBM Plex Sans" pitchFamily="34" charset="-122"/>
                <a:cs typeface="IBM Plex Sans" pitchFamily="34" charset="-120"/>
              </a:rPr>
              <a:t>Quello che vale oltre questo foglio: vincolare il modello quando i dati sono rumorosi, pulire il segnale con una soglia locale, non fidarsi di una misura che non batta un caso casuale.</a:t>
            </a:r>
            <a:endParaRPr lang="en-US" sz="1300" dirty="0"/>
          </a:p>
        </p:txBody>
      </p:sp>
      <p:sp>
        <p:nvSpPr>
          <p:cNvPr id="6" name="Text 4"/>
          <p:cNvSpPr/>
          <p:nvPr/>
        </p:nvSpPr>
        <p:spPr>
          <a:xfrm>
            <a:off x="812800" y="6238280"/>
            <a:ext cx="432255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Registrazione di mappe catastali storiche — Varazze, foglio 49</a:t>
            </a:r>
            <a:endParaRPr lang="en-US" sz="1200" dirty="0"/>
          </a:p>
        </p:txBody>
      </p:sp>
      <p:sp>
        <p:nvSpPr>
          <p:cNvPr id="7" name="Text 5"/>
          <p:cNvSpPr/>
          <p:nvPr/>
        </p:nvSpPr>
        <p:spPr>
          <a:xfrm>
            <a:off x="11065966" y="6238280"/>
            <a:ext cx="36403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5C6673"/>
                </a:solidFill>
                <a:latin typeface="IBM Plex Sans" pitchFamily="34" charset="0"/>
                <a:ea typeface="IBM Plex Sans" pitchFamily="34" charset="-122"/>
                <a:cs typeface="IBM Plex Sans" pitchFamily="34" charset="-120"/>
              </a:rPr>
              <a:t>8 / 8</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1251</Words>
  <Application>Microsoft Office PowerPoint</Application>
  <PresentationFormat>Widescreen</PresentationFormat>
  <Paragraphs>127</Paragraphs>
  <Slides>8</Slides>
  <Notes>8</Notes>
  <HiddenSlides>0</HiddenSlides>
  <MMClips>0</MMClips>
  <ScaleCrop>false</ScaleCrop>
  <HeadingPairs>
    <vt:vector size="6" baseType="variant">
      <vt:variant>
        <vt:lpstr>Caratteri utilizzati</vt:lpstr>
      </vt:variant>
      <vt:variant>
        <vt:i4>3</vt:i4>
      </vt:variant>
      <vt:variant>
        <vt:lpstr>Tema</vt:lpstr>
      </vt:variant>
      <vt:variant>
        <vt:i4>1</vt:i4>
      </vt:variant>
      <vt:variant>
        <vt:lpstr>Titoli diapositive</vt:lpstr>
      </vt:variant>
      <vt:variant>
        <vt:i4>8</vt:i4>
      </vt:variant>
    </vt:vector>
  </HeadingPairs>
  <TitlesOfParts>
    <vt:vector size="12" baseType="lpstr">
      <vt:lpstr>Arial</vt:lpstr>
      <vt:lpstr>EB Garamond</vt:lpstr>
      <vt:lpstr>IBM Plex Sans</vt:lpstr>
      <vt:lpstr>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Registrazione di mappe catastali storiche</dc:title>
  <dc:subject>PptxGenJS Presentation</dc:subject>
  <dc:creator>PptxGenJS</dc:creator>
  <cp:lastModifiedBy>Marco Santoro</cp:lastModifiedBy>
  <cp:revision>2</cp:revision>
  <dcterms:created xsi:type="dcterms:W3CDTF">2026-09-21T10:18:38Z</dcterms:created>
  <dcterms:modified xsi:type="dcterms:W3CDTF">2026-09-21T10:20:12Z</dcterms:modified>
</cp:coreProperties>
</file>